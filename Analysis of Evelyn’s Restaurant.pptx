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Roboto Slab"/>
      <p:regular r:id="rId22"/>
      <p:bold r:id="rId23"/>
    </p:embeddedFont>
    <p:embeddedFont>
      <p:font typeface="Roboto"/>
      <p:regular r:id="rId24"/>
      <p:bold r:id="rId25"/>
      <p:italic r:id="rId26"/>
      <p:boldItalic r:id="rId27"/>
    </p:embeddedFont>
    <p:embeddedFont>
      <p:font typeface="EB Garamond"/>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obotoSlab-regular.fntdata"/><Relationship Id="rId21" Type="http://schemas.openxmlformats.org/officeDocument/2006/relationships/slide" Target="slides/slide16.xml"/><Relationship Id="rId24" Type="http://schemas.openxmlformats.org/officeDocument/2006/relationships/font" Target="fonts/Roboto-regular.fntdata"/><Relationship Id="rId23" Type="http://schemas.openxmlformats.org/officeDocument/2006/relationships/font" Target="fonts/RobotoSlab-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italic.fntdata"/><Relationship Id="rId25" Type="http://schemas.openxmlformats.org/officeDocument/2006/relationships/font" Target="fonts/Roboto-bold.fntdata"/><Relationship Id="rId28" Type="http://schemas.openxmlformats.org/officeDocument/2006/relationships/font" Target="fonts/EBGaramond-regular.fntdata"/><Relationship Id="rId27" Type="http://schemas.openxmlformats.org/officeDocument/2006/relationships/font" Target="fonts/Roboto-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EBGaramond-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EBGaramond-boldItalic.fntdata"/><Relationship Id="rId30" Type="http://schemas.openxmlformats.org/officeDocument/2006/relationships/font" Target="fonts/EBGaramon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aacbe6519a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aacbe6519a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EB Garamond"/>
                <a:ea typeface="EB Garamond"/>
                <a:cs typeface="EB Garamond"/>
                <a:sym typeface="EB Garamond"/>
              </a:rPr>
              <a:t>(Requested personal contact information to be redacted)</a:t>
            </a:r>
            <a:endParaRPr sz="1800">
              <a:solidFill>
                <a:schemeClr val="dk1"/>
              </a:solidFill>
              <a:latin typeface="EB Garamond"/>
              <a:ea typeface="EB Garamond"/>
              <a:cs typeface="EB Garamond"/>
              <a:sym typeface="EB Garamond"/>
            </a:endParaRPr>
          </a:p>
          <a:p>
            <a:pPr indent="0" lvl="0" marL="0" rtl="0" algn="l">
              <a:lnSpc>
                <a:spcPct val="115000"/>
              </a:lnSpc>
              <a:spcBef>
                <a:spcPts val="1200"/>
              </a:spcBef>
              <a:spcAft>
                <a:spcPts val="0"/>
              </a:spcAft>
              <a:buClr>
                <a:schemeClr val="dk1"/>
              </a:buClr>
              <a:buSzPts val="1100"/>
              <a:buFont typeface="Arial"/>
              <a:buNone/>
            </a:pPr>
            <a:r>
              <a:rPr lang="en" sz="1800">
                <a:solidFill>
                  <a:schemeClr val="dk1"/>
                </a:solidFill>
                <a:latin typeface="EB Garamond"/>
                <a:ea typeface="EB Garamond"/>
                <a:cs typeface="EB Garamond"/>
                <a:sym typeface="EB Garamond"/>
              </a:rPr>
              <a:t>Naji Abusleiman (Requested personal contact information to be redacted)</a:t>
            </a:r>
            <a:endParaRPr sz="1800">
              <a:solidFill>
                <a:schemeClr val="dk1"/>
              </a:solidFill>
              <a:latin typeface="EB Garamond"/>
              <a:ea typeface="EB Garamond"/>
              <a:cs typeface="EB Garamond"/>
              <a:sym typeface="EB Garamond"/>
            </a:endParaRPr>
          </a:p>
          <a:p>
            <a:pPr indent="0" lvl="0" marL="0" rtl="0" algn="l">
              <a:lnSpc>
                <a:spcPct val="115000"/>
              </a:lnSpc>
              <a:spcBef>
                <a:spcPts val="1200"/>
              </a:spcBef>
              <a:spcAft>
                <a:spcPts val="0"/>
              </a:spcAft>
              <a:buClr>
                <a:schemeClr val="dk1"/>
              </a:buClr>
              <a:buSzPts val="1100"/>
              <a:buFont typeface="Arial"/>
              <a:buNone/>
            </a:pPr>
            <a:r>
              <a:rPr lang="en" sz="1800">
                <a:solidFill>
                  <a:schemeClr val="dk1"/>
                </a:solidFill>
                <a:latin typeface="EB Garamond"/>
                <a:ea typeface="EB Garamond"/>
                <a:cs typeface="EB Garamond"/>
                <a:sym typeface="EB Garamond"/>
              </a:rPr>
              <a:t>Manni Gonzalez: (908) 476-8092</a:t>
            </a:r>
            <a:endParaRPr sz="1800">
              <a:solidFill>
                <a:schemeClr val="dk1"/>
              </a:solidFill>
              <a:latin typeface="EB Garamond"/>
              <a:ea typeface="EB Garamond"/>
              <a:cs typeface="EB Garamond"/>
              <a:sym typeface="EB Garamond"/>
            </a:endParaRPr>
          </a:p>
          <a:p>
            <a:pPr indent="0" lvl="0" marL="0" rtl="0" algn="l">
              <a:lnSpc>
                <a:spcPct val="115000"/>
              </a:lnSpc>
              <a:spcBef>
                <a:spcPts val="1200"/>
              </a:spcBef>
              <a:spcAft>
                <a:spcPts val="0"/>
              </a:spcAft>
              <a:buClr>
                <a:schemeClr val="dk1"/>
              </a:buClr>
              <a:buSzPts val="1100"/>
              <a:buFont typeface="Arial"/>
              <a:buNone/>
            </a:pPr>
            <a:r>
              <a:rPr lang="en" sz="1800">
                <a:solidFill>
                  <a:schemeClr val="dk1"/>
                </a:solidFill>
                <a:latin typeface="EB Garamond"/>
                <a:ea typeface="EB Garamond"/>
                <a:cs typeface="EB Garamond"/>
                <a:sym typeface="EB Garamond"/>
              </a:rPr>
              <a:t>Shane Bootsma: (973) 248-2753</a:t>
            </a:r>
            <a:endParaRPr sz="1800">
              <a:solidFill>
                <a:schemeClr val="dk1"/>
              </a:solidFill>
              <a:latin typeface="EB Garamond"/>
              <a:ea typeface="EB Garamond"/>
              <a:cs typeface="EB Garamond"/>
              <a:sym typeface="EB Garamond"/>
            </a:endParaRPr>
          </a:p>
          <a:p>
            <a:pPr indent="0" lvl="0" marL="0" rtl="0" algn="l">
              <a:lnSpc>
                <a:spcPct val="115000"/>
              </a:lnSpc>
              <a:spcBef>
                <a:spcPts val="1200"/>
              </a:spcBef>
              <a:spcAft>
                <a:spcPts val="1200"/>
              </a:spcAft>
              <a:buClr>
                <a:schemeClr val="dk1"/>
              </a:buClr>
              <a:buSzPts val="1100"/>
              <a:buFont typeface="Arial"/>
              <a:buNone/>
            </a:pPr>
            <a:r>
              <a:rPr lang="en" sz="1800">
                <a:solidFill>
                  <a:schemeClr val="dk1"/>
                </a:solidFill>
                <a:latin typeface="EB Garamond"/>
                <a:ea typeface="EB Garamond"/>
                <a:cs typeface="EB Garamond"/>
                <a:sym typeface="EB Garamond"/>
              </a:rPr>
              <a:t>Beth Malone: (973) 879-0970</a:t>
            </a: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aacbe6519a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aacbe6519a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aacbe6519a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aacbe6519a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aacbe6519a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aacbe6519a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aacbe6519a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aacbe6519a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aacbe6519a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aacbe6519a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aacbe6519a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aacbe6519a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aacbe6519a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aacbe6519a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aacbe6519a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aacbe6519a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aacbe6519a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aacbe6519a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aacbe6519a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aacbe6519a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aacbe6519a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aacbe6519a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aacbe6519a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aacbe6519a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200000"/>
              </a:lnSpc>
              <a:spcBef>
                <a:spcPts val="0"/>
              </a:spcBef>
              <a:spcAft>
                <a:spcPts val="0"/>
              </a:spcAft>
              <a:buNone/>
            </a:pPr>
            <a:r>
              <a:rPr lang="en" sz="1200">
                <a:solidFill>
                  <a:schemeClr val="dk1"/>
                </a:solidFill>
                <a:latin typeface="Times New Roman"/>
                <a:ea typeface="Times New Roman"/>
                <a:cs typeface="Times New Roman"/>
                <a:sym typeface="Times New Roman"/>
              </a:rPr>
              <a:t>	</a:t>
            </a:r>
            <a:r>
              <a:rPr lang="en" sz="1200" u="sng">
                <a:solidFill>
                  <a:schemeClr val="dk1"/>
                </a:solidFill>
                <a:latin typeface="Times New Roman"/>
                <a:ea typeface="Times New Roman"/>
                <a:cs typeface="Times New Roman"/>
                <a:sym typeface="Times New Roman"/>
              </a:rPr>
              <a:t>Situation</a:t>
            </a:r>
            <a:r>
              <a:rPr lang="en" sz="1200">
                <a:solidFill>
                  <a:schemeClr val="dk1"/>
                </a:solidFill>
                <a:latin typeface="Times New Roman"/>
                <a:ea typeface="Times New Roman"/>
                <a:cs typeface="Times New Roman"/>
                <a:sym typeface="Times New Roman"/>
              </a:rPr>
              <a:t>: Another problem that we highlight regarding Evelyn’s output issue pertains to the employee turnover rates. Recognizing that their client-facing employees are majority college students who do not have the intent to remain employed following graduation is a harsh reality which is rooted in these employees' terminal goals to obtain professional work down the road. </a:t>
            </a:r>
            <a:endParaRPr sz="1200">
              <a:solidFill>
                <a:schemeClr val="dk1"/>
              </a:solidFill>
              <a:latin typeface="Times New Roman"/>
              <a:ea typeface="Times New Roman"/>
              <a:cs typeface="Times New Roman"/>
              <a:sym typeface="Times New Roman"/>
            </a:endParaRPr>
          </a:p>
          <a:p>
            <a:pPr indent="0" lvl="0" marL="0" rtl="0" algn="l">
              <a:lnSpc>
                <a:spcPct val="200000"/>
              </a:lnSpc>
              <a:spcBef>
                <a:spcPts val="0"/>
              </a:spcBef>
              <a:spcAft>
                <a:spcPts val="0"/>
              </a:spcAft>
              <a:buNone/>
            </a:pPr>
            <a:r>
              <a:rPr lang="en" sz="1200">
                <a:solidFill>
                  <a:schemeClr val="dk1"/>
                </a:solidFill>
                <a:latin typeface="Times New Roman"/>
                <a:ea typeface="Times New Roman"/>
                <a:cs typeface="Times New Roman"/>
                <a:sym typeface="Times New Roman"/>
              </a:rPr>
              <a:t>	</a:t>
            </a:r>
            <a:r>
              <a:rPr lang="en" sz="1200" u="sng">
                <a:solidFill>
                  <a:schemeClr val="dk1"/>
                </a:solidFill>
                <a:latin typeface="Times New Roman"/>
                <a:ea typeface="Times New Roman"/>
                <a:cs typeface="Times New Roman"/>
                <a:sym typeface="Times New Roman"/>
              </a:rPr>
              <a:t>Approach:</a:t>
            </a:r>
            <a:r>
              <a:rPr lang="en" sz="1200">
                <a:solidFill>
                  <a:schemeClr val="dk1"/>
                </a:solidFill>
                <a:latin typeface="Times New Roman"/>
                <a:ea typeface="Times New Roman"/>
                <a:cs typeface="Times New Roman"/>
                <a:sym typeface="Times New Roman"/>
              </a:rPr>
              <a:t> As a result of most college employees seeing this work as a short-term crutch to satisfy their financial obligations, Evelyn’s can utilize their business environment as a learning opportunity for student employees to gain skills in customer service, client-facing experience, and rudimentary financial bookkeeping (inventory and reading personal sales reports). Instead of trying to avoid the harsh reality that these employees will not maintain their careers at Evelyn’s, the business can embrace this fact and equip its employees with the industry specific skills which they plan to pursue. By also offering internship opportunities from Evelyn’s that relate to the student specific industry, Evelyn’s will potentially increase likelihood for students to continue to return to work for the duration of their academic career, providing Evelyn’s as a meaningful stepping stone in their career path instead of only as a financial crutch. </a:t>
            </a:r>
            <a:endParaRPr sz="1200">
              <a:solidFill>
                <a:schemeClr val="dk1"/>
              </a:solidFill>
              <a:latin typeface="Times New Roman"/>
              <a:ea typeface="Times New Roman"/>
              <a:cs typeface="Times New Roman"/>
              <a:sym typeface="Times New Roman"/>
            </a:endParaRPr>
          </a:p>
          <a:p>
            <a:pPr indent="0" lvl="0" marL="0" rtl="0" algn="l">
              <a:lnSpc>
                <a:spcPct val="200000"/>
              </a:lnSpc>
              <a:spcBef>
                <a:spcPts val="0"/>
              </a:spcBef>
              <a:spcAft>
                <a:spcPts val="0"/>
              </a:spcAft>
              <a:buClr>
                <a:schemeClr val="dk1"/>
              </a:buClr>
              <a:buSzPts val="1100"/>
              <a:buFont typeface="Arial"/>
              <a:buNone/>
            </a:pPr>
            <a:r>
              <a:t/>
            </a: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aacbe6519a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aacbe6519a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200000"/>
              </a:lnSpc>
              <a:spcBef>
                <a:spcPts val="0"/>
              </a:spcBef>
              <a:spcAft>
                <a:spcPts val="0"/>
              </a:spcAft>
              <a:buNone/>
            </a:pPr>
            <a:r>
              <a:rPr lang="en" sz="1200" u="sng">
                <a:solidFill>
                  <a:schemeClr val="dk1"/>
                </a:solidFill>
                <a:latin typeface="Times New Roman"/>
                <a:ea typeface="Times New Roman"/>
                <a:cs typeface="Times New Roman"/>
                <a:sym typeface="Times New Roman"/>
              </a:rPr>
              <a:t>Advantages:</a:t>
            </a:r>
            <a:endParaRPr sz="1200">
              <a:solidFill>
                <a:schemeClr val="dk1"/>
              </a:solidFill>
              <a:latin typeface="Times New Roman"/>
              <a:ea typeface="Times New Roman"/>
              <a:cs typeface="Times New Roman"/>
              <a:sym typeface="Times New Roman"/>
            </a:endParaRPr>
          </a:p>
          <a:p>
            <a:pPr indent="0" lvl="0" marL="0" rtl="0" algn="l">
              <a:lnSpc>
                <a:spcPct val="200000"/>
              </a:lnSpc>
              <a:spcBef>
                <a:spcPts val="0"/>
              </a:spcBef>
              <a:spcAft>
                <a:spcPts val="0"/>
              </a:spcAft>
              <a:buNone/>
            </a:pPr>
            <a:r>
              <a:rPr lang="en" sz="1200">
                <a:solidFill>
                  <a:schemeClr val="dk1"/>
                </a:solidFill>
                <a:latin typeface="Times New Roman"/>
                <a:ea typeface="Times New Roman"/>
                <a:cs typeface="Times New Roman"/>
                <a:sym typeface="Times New Roman"/>
              </a:rPr>
              <a:t>The advantages include potentially reducing</a:t>
            </a:r>
            <a:r>
              <a:rPr lang="en" sz="1200">
                <a:solidFill>
                  <a:schemeClr val="dk1"/>
                </a:solidFill>
                <a:latin typeface="Times New Roman"/>
                <a:ea typeface="Times New Roman"/>
                <a:cs typeface="Times New Roman"/>
                <a:sym typeface="Times New Roman"/>
              </a:rPr>
              <a:t> employee turnover and retaining employees for longer times with respect to keeping employees during the extent of their academic career. Another advantage includes developing a stronger employer brand on campus acquiring more individuals who are interested in working for the entirety of their academic career which is more desirable than short-term employment. This leads into the same idea that these employees will be more motivated to work hard because they are working towards their terminal goals with the benefits available. Having more educated and qualified employees allows Evelyn’s to develop a pool of employee who understand the business at a deeper level creating stronger leaders and overall individuals. </a:t>
            </a:r>
            <a:endParaRPr sz="1200">
              <a:solidFill>
                <a:schemeClr val="dk1"/>
              </a:solidFill>
              <a:latin typeface="Times New Roman"/>
              <a:ea typeface="Times New Roman"/>
              <a:cs typeface="Times New Roman"/>
              <a:sym typeface="Times New Roman"/>
            </a:endParaRPr>
          </a:p>
          <a:p>
            <a:pPr indent="0" lvl="0" marL="0" rtl="0" algn="l">
              <a:lnSpc>
                <a:spcPct val="200000"/>
              </a:lnSpc>
              <a:spcBef>
                <a:spcPts val="0"/>
              </a:spcBef>
              <a:spcAft>
                <a:spcPts val="0"/>
              </a:spcAft>
              <a:buNone/>
            </a:pPr>
            <a:r>
              <a:rPr lang="en" sz="1200" u="sng">
                <a:solidFill>
                  <a:schemeClr val="dk1"/>
                </a:solidFill>
                <a:latin typeface="Times New Roman"/>
                <a:ea typeface="Times New Roman"/>
                <a:cs typeface="Times New Roman"/>
                <a:sym typeface="Times New Roman"/>
              </a:rPr>
              <a:t>Disadvantages:</a:t>
            </a:r>
            <a:endParaRPr sz="1200" u="sng">
              <a:solidFill>
                <a:schemeClr val="dk1"/>
              </a:solidFill>
              <a:latin typeface="Times New Roman"/>
              <a:ea typeface="Times New Roman"/>
              <a:cs typeface="Times New Roman"/>
              <a:sym typeface="Times New Roman"/>
            </a:endParaRPr>
          </a:p>
          <a:p>
            <a:pPr indent="0" lvl="0" marL="0" rtl="0" algn="l">
              <a:lnSpc>
                <a:spcPct val="200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No matter how much aid and programs that are goal-oriented for the employee, there is still the possibility for the employee to perceive the program as additional work, which can lead them to perceive the employment position as still short-term, not embracing the present opportunities. With respect to the costs of implementing this recommendation, being that Evelyn’s is not on the same financial scale of McDonalds and Starbucks, the business may take too much in losses with respect to paid training sessions, manager time spent, and materials and online services related to the implementation of these programs all without a sure guarantee to provide the same results as the previous companies. However, if Evelyn’s has the adequate resources available to provide these opportunities and maintain financial stability, it is in the business’s best interest to implement. The implementation of this strategy however does have potential to backfire through accelerating employees along their career and academic goals so efficiently that they leave faster than expected, becoming counterproductive.</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aacbe6519a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aacbe6519a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200000"/>
              </a:lnSpc>
              <a:spcBef>
                <a:spcPts val="0"/>
              </a:spcBef>
              <a:spcAft>
                <a:spcPts val="0"/>
              </a:spcAft>
              <a:buNone/>
            </a:pPr>
            <a:r>
              <a:rPr b="1" lang="en" sz="1200" u="sng">
                <a:solidFill>
                  <a:schemeClr val="dk1"/>
                </a:solidFill>
                <a:latin typeface="Times New Roman"/>
                <a:ea typeface="Times New Roman"/>
                <a:cs typeface="Times New Roman"/>
                <a:sym typeface="Times New Roman"/>
              </a:rPr>
              <a:t>Social Proof:</a:t>
            </a:r>
            <a:endParaRPr b="1" sz="1200" u="sng">
              <a:solidFill>
                <a:schemeClr val="dk1"/>
              </a:solidFill>
              <a:latin typeface="Times New Roman"/>
              <a:ea typeface="Times New Roman"/>
              <a:cs typeface="Times New Roman"/>
              <a:sym typeface="Times New Roman"/>
            </a:endParaRPr>
          </a:p>
          <a:p>
            <a:pPr indent="457200" lvl="0" marL="0" rtl="0" algn="l">
              <a:lnSpc>
                <a:spcPct val="200000"/>
              </a:lnSpc>
              <a:spcBef>
                <a:spcPts val="0"/>
              </a:spcBef>
              <a:spcAft>
                <a:spcPts val="0"/>
              </a:spcAft>
              <a:buNone/>
            </a:pPr>
            <a:r>
              <a:rPr lang="en" sz="1200">
                <a:solidFill>
                  <a:schemeClr val="dk1"/>
                </a:solidFill>
                <a:latin typeface="Times New Roman"/>
                <a:ea typeface="Times New Roman"/>
                <a:cs typeface="Times New Roman"/>
                <a:sym typeface="Times New Roman"/>
              </a:rPr>
              <a:t>The first strategy that our team can utilize to effectively communicate our findings with consideration to prevent potential resistance, is to first lean on the interpersonal influencing principle of social proof. By portraying our proposition as a strategy that is commonly used by other businesses within a similar/the same industry, we can show the benefits of utilizing the strategies to provide positive outcomes. Companies such as McDonalds and Starbucks were able to effectively retain employees by meeting the employees terminal goals through restructuring their benefits programs, which can be similarly adapted to Evelyn’s employee benefits providing evident social proof. </a:t>
            </a:r>
            <a:endParaRPr sz="1200">
              <a:solidFill>
                <a:schemeClr val="dk1"/>
              </a:solidFill>
              <a:latin typeface="Times New Roman"/>
              <a:ea typeface="Times New Roman"/>
              <a:cs typeface="Times New Roman"/>
              <a:sym typeface="Times New Roman"/>
            </a:endParaRPr>
          </a:p>
          <a:p>
            <a:pPr indent="0" lvl="0" marL="0" rtl="0" algn="l">
              <a:lnSpc>
                <a:spcPct val="200000"/>
              </a:lnSpc>
              <a:spcBef>
                <a:spcPts val="0"/>
              </a:spcBef>
              <a:spcAft>
                <a:spcPts val="0"/>
              </a:spcAft>
              <a:buNone/>
            </a:pPr>
            <a:r>
              <a:rPr b="1" lang="en" sz="1200" u="sng">
                <a:solidFill>
                  <a:schemeClr val="dk1"/>
                </a:solidFill>
                <a:latin typeface="Times New Roman"/>
                <a:ea typeface="Times New Roman"/>
                <a:cs typeface="Times New Roman"/>
                <a:sym typeface="Times New Roman"/>
              </a:rPr>
              <a:t>Authority</a:t>
            </a:r>
            <a:endParaRPr b="1" sz="1200" u="sng">
              <a:solidFill>
                <a:schemeClr val="dk1"/>
              </a:solidFill>
              <a:latin typeface="Times New Roman"/>
              <a:ea typeface="Times New Roman"/>
              <a:cs typeface="Times New Roman"/>
              <a:sym typeface="Times New Roman"/>
            </a:endParaRPr>
          </a:p>
          <a:p>
            <a:pPr indent="457200" lvl="0" marL="0" rtl="0" algn="l">
              <a:lnSpc>
                <a:spcPct val="200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The second strategy to reduce backlash in presenting our recommendations is through the use of the interpersonal influencing principle of authority. Since people are more likely to be influenced by individuals with direct authority, making it clear that respected companies like Volvo and Hartford Financial Services Group did the research and have access to the legitimate experts to have beneficial findings, it is more likely that Evelyn’s will be influenced to take our recommendations into consideration.  In this case, job enrichment helped motivate employees in the workplace because their scope of work increased and they were given new tasks to complete. Additionally, a similar phenomenon occurred in Hartford’s Financial Services Group. This group is a major provider of investments, life insurance, and other insurance services. In 2006, the company created an ERCS group to attempt to centralize HR functions. However, this practice led to low motivation, high stress levels, and dissatisfaction among employees. Generating high turnover rates. To combat this trend, The Hartford Group turned to job enrichment. They gave employees responsibilities that were typically reserved for management, which in turn increased their sense of autonomy and accountability. They also expanded their roles to expose them to a wide range of HR issues. The variety made the job more interesting and boosted motivation (Sharma, 2024). These same strategies that are </a:t>
            </a:r>
            <a:r>
              <a:rPr lang="en" sz="1200">
                <a:solidFill>
                  <a:schemeClr val="dk1"/>
                </a:solidFill>
                <a:latin typeface="Times New Roman"/>
                <a:ea typeface="Times New Roman"/>
                <a:cs typeface="Times New Roman"/>
                <a:sym typeface="Times New Roman"/>
              </a:rPr>
              <a:t>utilized</a:t>
            </a:r>
            <a:r>
              <a:rPr lang="en" sz="1200">
                <a:solidFill>
                  <a:schemeClr val="dk1"/>
                </a:solidFill>
                <a:latin typeface="Times New Roman"/>
                <a:ea typeface="Times New Roman"/>
                <a:cs typeface="Times New Roman"/>
                <a:sym typeface="Times New Roman"/>
              </a:rPr>
              <a:t> by both Volvo and Hartford </a:t>
            </a:r>
            <a:r>
              <a:rPr lang="en" sz="1200">
                <a:solidFill>
                  <a:schemeClr val="dk1"/>
                </a:solidFill>
                <a:latin typeface="Times New Roman"/>
                <a:ea typeface="Times New Roman"/>
                <a:cs typeface="Times New Roman"/>
                <a:sym typeface="Times New Roman"/>
              </a:rPr>
              <a:t>Financial</a:t>
            </a:r>
            <a:r>
              <a:rPr lang="en" sz="1200">
                <a:solidFill>
                  <a:schemeClr val="dk1"/>
                </a:solidFill>
                <a:latin typeface="Times New Roman"/>
                <a:ea typeface="Times New Roman"/>
                <a:cs typeface="Times New Roman"/>
                <a:sym typeface="Times New Roman"/>
              </a:rPr>
              <a:t> Group can be adapted to the current model used by Evelyn’s which is backed by experts and evidence. </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1524800" y="672606"/>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sp>
        <p:nvSpPr>
          <p:cNvPr id="11" name="Google Shape;11;p2"/>
          <p:cNvSpPr/>
          <p:nvPr/>
        </p:nvSpPr>
        <p:spPr>
          <a:xfrm rot="10800000">
            <a:off x="6537563" y="3342925"/>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cxnSp>
        <p:nvCxnSpPr>
          <p:cNvPr id="12" name="Google Shape;12;p2"/>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3" name="Google Shape;13;p2"/>
          <p:cNvSpPr txBox="1"/>
          <p:nvPr>
            <p:ph type="ctrTitle"/>
          </p:nvPr>
        </p:nvSpPr>
        <p:spPr>
          <a:xfrm>
            <a:off x="1680302" y="1188925"/>
            <a:ext cx="5783400" cy="1457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p:txBody>
      </p:sp>
      <p:sp>
        <p:nvSpPr>
          <p:cNvPr id="14" name="Google Shape;14;p2"/>
          <p:cNvSpPr txBox="1"/>
          <p:nvPr>
            <p:ph idx="1" type="subTitle"/>
          </p:nvPr>
        </p:nvSpPr>
        <p:spPr>
          <a:xfrm>
            <a:off x="1680302" y="3049450"/>
            <a:ext cx="5783400" cy="9090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p:txBody>
      </p:sp>
      <p:sp>
        <p:nvSpPr>
          <p:cNvPr id="15" name="Google Shape;15;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cxnSp>
        <p:nvCxnSpPr>
          <p:cNvPr id="17" name="Google Shape;17;p3"/>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8" name="Google Shape;18;p3"/>
          <p:cNvSpPr txBox="1"/>
          <p:nvPr>
            <p:ph type="title"/>
          </p:nvPr>
        </p:nvSpPr>
        <p:spPr>
          <a:xfrm>
            <a:off x="480750" y="1764950"/>
            <a:ext cx="8222100" cy="907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cxnSp>
        <p:nvCxnSpPr>
          <p:cNvPr id="21" name="Google Shape;21;p4"/>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2" name="Google Shape;22;p4"/>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 name="Google Shape;23;p4"/>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cxnSp>
        <p:nvCxnSpPr>
          <p:cNvPr id="26" name="Google Shape;26;p5"/>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7" name="Google Shape;27;p5"/>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8" name="Google Shape;28;p5"/>
          <p:cNvSpPr txBox="1"/>
          <p:nvPr>
            <p:ph idx="1" type="body"/>
          </p:nvPr>
        </p:nvSpPr>
        <p:spPr>
          <a:xfrm>
            <a:off x="387900" y="1489825"/>
            <a:ext cx="3999900" cy="3078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756200" y="1489825"/>
            <a:ext cx="3999900" cy="3078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 name="Google Shape;33;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cxnSp>
        <p:nvCxnSpPr>
          <p:cNvPr id="35" name="Google Shape;35;p7"/>
          <p:cNvCxnSpPr/>
          <p:nvPr/>
        </p:nvCxnSpPr>
        <p:spPr>
          <a:xfrm>
            <a:off x="489218" y="1412277"/>
            <a:ext cx="331500" cy="0"/>
          </a:xfrm>
          <a:prstGeom prst="straightConnector1">
            <a:avLst/>
          </a:prstGeom>
          <a:noFill/>
          <a:ln cap="flat" cmpd="sng" w="38100">
            <a:solidFill>
              <a:schemeClr val="accent4"/>
            </a:solidFill>
            <a:prstDash val="solid"/>
            <a:round/>
            <a:headEnd len="sm" w="sm" type="none"/>
            <a:tailEnd len="sm" w="sm" type="none"/>
          </a:ln>
        </p:spPr>
      </p:cxnSp>
      <p:sp>
        <p:nvSpPr>
          <p:cNvPr id="36" name="Google Shape;36;p7"/>
          <p:cNvSpPr txBox="1"/>
          <p:nvPr>
            <p:ph type="title"/>
          </p:nvPr>
        </p:nvSpPr>
        <p:spPr>
          <a:xfrm>
            <a:off x="3879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7" name="Google Shape;37;p7"/>
          <p:cNvSpPr txBox="1"/>
          <p:nvPr>
            <p:ph idx="1" type="body"/>
          </p:nvPr>
        </p:nvSpPr>
        <p:spPr>
          <a:xfrm>
            <a:off x="387900" y="1594025"/>
            <a:ext cx="2808000" cy="2681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8" name="Google Shape;3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9" name="Shape 39"/>
        <p:cNvGrpSpPr/>
        <p:nvPr/>
      </p:nvGrpSpPr>
      <p:grpSpPr>
        <a:xfrm>
          <a:off x="0" y="0"/>
          <a:ext cx="0" cy="0"/>
          <a:chOff x="0" y="0"/>
          <a:chExt cx="0" cy="0"/>
        </a:xfrm>
      </p:grpSpPr>
      <p:sp>
        <p:nvSpPr>
          <p:cNvPr id="40" name="Google Shape;40;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1" name="Google Shape;41;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 name="Shape 42"/>
        <p:cNvGrpSpPr/>
        <p:nvPr/>
      </p:nvGrpSpPr>
      <p:grpSpPr>
        <a:xfrm>
          <a:off x="0" y="0"/>
          <a:ext cx="0" cy="0"/>
          <a:chOff x="0" y="0"/>
          <a:chExt cx="0" cy="0"/>
        </a:xfrm>
      </p:grpSpPr>
      <p:sp>
        <p:nvSpPr>
          <p:cNvPr id="43" name="Google Shape;43;p9"/>
          <p:cNvSpPr/>
          <p:nvPr/>
        </p:nvSpPr>
        <p:spPr>
          <a:xfrm>
            <a:off x="4572000" y="-7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 name="Google Shape;44;p9"/>
          <p:cNvCxnSpPr/>
          <p:nvPr/>
        </p:nvCxnSpPr>
        <p:spPr>
          <a:xfrm>
            <a:off x="5029675" y="4495503"/>
            <a:ext cx="540900" cy="0"/>
          </a:xfrm>
          <a:prstGeom prst="straightConnector1">
            <a:avLst/>
          </a:prstGeom>
          <a:noFill/>
          <a:ln cap="flat" cmpd="sng" w="38100">
            <a:solidFill>
              <a:schemeClr val="accent5"/>
            </a:solidFill>
            <a:prstDash val="solid"/>
            <a:round/>
            <a:headEnd len="sm" w="sm" type="none"/>
            <a:tailEnd len="sm" w="sm" type="none"/>
          </a:ln>
        </p:spPr>
      </p:cxnSp>
      <p:sp>
        <p:nvSpPr>
          <p:cNvPr id="45" name="Google Shape;45;p9"/>
          <p:cNvSpPr txBox="1"/>
          <p:nvPr>
            <p:ph type="title"/>
          </p:nvPr>
        </p:nvSpPr>
        <p:spPr>
          <a:xfrm>
            <a:off x="265500" y="1209075"/>
            <a:ext cx="4045200" cy="15063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6" name="Google Shape;46;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p:txBody>
      </p:sp>
      <p:sp>
        <p:nvSpPr>
          <p:cNvPr id="47" name="Google Shape;47;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8" name="Google Shape;4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10"/>
          <p:cNvSpPr txBox="1"/>
          <p:nvPr>
            <p:ph idx="1" type="body"/>
          </p:nvPr>
        </p:nvSpPr>
        <p:spPr>
          <a:xfrm>
            <a:off x="319500" y="4233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p:txBody>
      </p:sp>
      <p:sp>
        <p:nvSpPr>
          <p:cNvPr id="51" name="Google Shape;51;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11"/>
          <p:cNvSpPr/>
          <p:nvPr/>
        </p:nvSpPr>
        <p:spPr>
          <a:xfrm>
            <a:off x="150" y="5076825"/>
            <a:ext cx="9143700" cy="6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1"/>
          <p:cNvSpPr txBox="1"/>
          <p:nvPr>
            <p:ph hasCustomPrompt="1" type="title"/>
          </p:nvPr>
        </p:nvSpPr>
        <p:spPr>
          <a:xfrm>
            <a:off x="387900" y="1152450"/>
            <a:ext cx="83682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11"/>
          <p:cNvSpPr txBox="1"/>
          <p:nvPr>
            <p:ph idx="1" type="body"/>
          </p:nvPr>
        </p:nvSpPr>
        <p:spPr>
          <a:xfrm>
            <a:off x="387900" y="2919450"/>
            <a:ext cx="83682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6" name="Google Shape;56;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rina">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p:txBody>
      </p:sp>
      <p:sp>
        <p:nvSpPr>
          <p:cNvPr id="7" name="Google Shape;7;p1"/>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indent="-317500" lvl="1" marL="914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indent="-317500" lvl="2" marL="1371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indent="-317500" lvl="3" marL="1828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indent="-317500" lvl="4" marL="22860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indent="-317500" lvl="5" marL="27432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indent="-317500" lvl="6" marL="3200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indent="-317500" lvl="7" marL="3657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indent="-317500" lvl="8" marL="4114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3"/>
          <p:cNvSpPr txBox="1"/>
          <p:nvPr>
            <p:ph type="ctrTitle"/>
          </p:nvPr>
        </p:nvSpPr>
        <p:spPr>
          <a:xfrm>
            <a:off x="1680302" y="1188925"/>
            <a:ext cx="5783400" cy="14574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latin typeface="EB Garamond"/>
                <a:ea typeface="EB Garamond"/>
                <a:cs typeface="EB Garamond"/>
                <a:sym typeface="EB Garamond"/>
              </a:rPr>
              <a:t>Analysis of Evelyn’s </a:t>
            </a:r>
            <a:r>
              <a:rPr lang="en">
                <a:latin typeface="EB Garamond"/>
                <a:ea typeface="EB Garamond"/>
                <a:cs typeface="EB Garamond"/>
                <a:sym typeface="EB Garamond"/>
              </a:rPr>
              <a:t>Restaurant and Bar</a:t>
            </a:r>
            <a:endParaRPr>
              <a:latin typeface="EB Garamond"/>
              <a:ea typeface="EB Garamond"/>
              <a:cs typeface="EB Garamond"/>
              <a:sym typeface="EB Garamond"/>
            </a:endParaRPr>
          </a:p>
        </p:txBody>
      </p:sp>
      <p:sp>
        <p:nvSpPr>
          <p:cNvPr id="64" name="Google Shape;64;p13"/>
          <p:cNvSpPr txBox="1"/>
          <p:nvPr>
            <p:ph idx="1" type="subTitle"/>
          </p:nvPr>
        </p:nvSpPr>
        <p:spPr>
          <a:xfrm>
            <a:off x="1680302" y="3049450"/>
            <a:ext cx="5783400" cy="909000"/>
          </a:xfrm>
          <a:prstGeom prst="rect">
            <a:avLst/>
          </a:prstGeom>
        </p:spPr>
        <p:txBody>
          <a:bodyPr anchorCtr="0" anchor="t" bIns="91425" lIns="91425" spcFirstLastPara="1" rIns="91425" wrap="square" tIns="91425">
            <a:normAutofit fontScale="77500" lnSpcReduction="20000"/>
          </a:bodyPr>
          <a:lstStyle/>
          <a:p>
            <a:pPr indent="0" lvl="0" marL="0" rtl="0" algn="ctr">
              <a:spcBef>
                <a:spcPts val="0"/>
              </a:spcBef>
              <a:spcAft>
                <a:spcPts val="0"/>
              </a:spcAft>
              <a:buNone/>
            </a:pPr>
            <a:r>
              <a:rPr lang="en">
                <a:solidFill>
                  <a:schemeClr val="dk1"/>
                </a:solidFill>
                <a:latin typeface="EB Garamond"/>
                <a:ea typeface="EB Garamond"/>
                <a:cs typeface="EB Garamond"/>
                <a:sym typeface="EB Garamond"/>
              </a:rPr>
              <a:t>Team Four: </a:t>
            </a:r>
            <a:endParaRPr>
              <a:solidFill>
                <a:schemeClr val="dk1"/>
              </a:solidFill>
              <a:latin typeface="EB Garamond"/>
              <a:ea typeface="EB Garamond"/>
              <a:cs typeface="EB Garamond"/>
              <a:sym typeface="EB Garamond"/>
            </a:endParaRPr>
          </a:p>
          <a:p>
            <a:pPr indent="0" lvl="0" marL="0" rtl="0" algn="ctr">
              <a:spcBef>
                <a:spcPts val="0"/>
              </a:spcBef>
              <a:spcAft>
                <a:spcPts val="0"/>
              </a:spcAft>
              <a:buNone/>
            </a:pPr>
            <a:r>
              <a:rPr lang="en">
                <a:solidFill>
                  <a:schemeClr val="dk1"/>
                </a:solidFill>
                <a:latin typeface="EB Garamond"/>
                <a:ea typeface="EB Garamond"/>
                <a:cs typeface="EB Garamond"/>
                <a:sym typeface="EB Garamond"/>
              </a:rPr>
              <a:t>Jun Park, Giancarlo Ruiz, Ryan </a:t>
            </a:r>
            <a:r>
              <a:rPr lang="en">
                <a:solidFill>
                  <a:schemeClr val="dk1"/>
                </a:solidFill>
                <a:latin typeface="EB Garamond"/>
                <a:ea typeface="EB Garamond"/>
                <a:cs typeface="EB Garamond"/>
                <a:sym typeface="EB Garamond"/>
              </a:rPr>
              <a:t>O'Neill</a:t>
            </a:r>
            <a:r>
              <a:rPr lang="en">
                <a:solidFill>
                  <a:schemeClr val="dk1"/>
                </a:solidFill>
                <a:latin typeface="EB Garamond"/>
                <a:ea typeface="EB Garamond"/>
                <a:cs typeface="EB Garamond"/>
                <a:sym typeface="EB Garamond"/>
              </a:rPr>
              <a:t>, Christian Sullivan, &amp; Abby Perry</a:t>
            </a:r>
            <a:endParaRPr>
              <a:solidFill>
                <a:schemeClr val="dk1"/>
              </a:solidFill>
              <a:latin typeface="EB Garamond"/>
              <a:ea typeface="EB Garamond"/>
              <a:cs typeface="EB Garamond"/>
              <a:sym typeface="EB Garamon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4"/>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2550">
                <a:latin typeface="EB Garamond"/>
                <a:ea typeface="EB Garamond"/>
                <a:cs typeface="EB Garamond"/>
                <a:sym typeface="EB Garamond"/>
              </a:rPr>
              <a:t>Company Access: Company and contact information </a:t>
            </a:r>
            <a:endParaRPr sz="4200">
              <a:latin typeface="EB Garamond"/>
              <a:ea typeface="EB Garamond"/>
              <a:cs typeface="EB Garamond"/>
              <a:sym typeface="EB Garamond"/>
            </a:endParaRPr>
          </a:p>
        </p:txBody>
      </p:sp>
      <p:sp>
        <p:nvSpPr>
          <p:cNvPr id="70" name="Google Shape;70;p14"/>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EB Garamond"/>
                <a:ea typeface="EB Garamond"/>
                <a:cs typeface="EB Garamond"/>
                <a:sym typeface="EB Garamond"/>
              </a:rPr>
              <a:t>Evelyn’s Restaurant </a:t>
            </a:r>
            <a:endParaRPr>
              <a:latin typeface="EB Garamond"/>
              <a:ea typeface="EB Garamond"/>
              <a:cs typeface="EB Garamond"/>
              <a:sym typeface="EB Garamond"/>
            </a:endParaRPr>
          </a:p>
          <a:p>
            <a:pPr indent="0" lvl="0" marL="0" rtl="0" algn="l">
              <a:spcBef>
                <a:spcPts val="1200"/>
              </a:spcBef>
              <a:spcAft>
                <a:spcPts val="0"/>
              </a:spcAft>
              <a:buNone/>
            </a:pPr>
            <a:r>
              <a:rPr lang="en">
                <a:latin typeface="EB Garamond"/>
                <a:ea typeface="EB Garamond"/>
                <a:cs typeface="EB Garamond"/>
                <a:sym typeface="EB Garamond"/>
              </a:rPr>
              <a:t>45 Easton Avenue, New Brunswick, New Jersey 08901</a:t>
            </a:r>
            <a:endParaRPr>
              <a:latin typeface="EB Garamond"/>
              <a:ea typeface="EB Garamond"/>
              <a:cs typeface="EB Garamond"/>
              <a:sym typeface="EB Garamond"/>
            </a:endParaRPr>
          </a:p>
          <a:p>
            <a:pPr indent="0" lvl="0" marL="0" rtl="0" algn="l">
              <a:spcBef>
                <a:spcPts val="1200"/>
              </a:spcBef>
              <a:spcAft>
                <a:spcPts val="0"/>
              </a:spcAft>
              <a:buNone/>
            </a:pPr>
            <a:r>
              <a:rPr lang="en">
                <a:latin typeface="EB Garamond"/>
                <a:ea typeface="EB Garamond"/>
                <a:cs typeface="EB Garamond"/>
                <a:sym typeface="EB Garamond"/>
              </a:rPr>
              <a:t>Primary of Contact: </a:t>
            </a:r>
            <a:endParaRPr>
              <a:latin typeface="EB Garamond"/>
              <a:ea typeface="EB Garamond"/>
              <a:cs typeface="EB Garamond"/>
              <a:sym typeface="EB Garamond"/>
            </a:endParaRPr>
          </a:p>
          <a:p>
            <a:pPr indent="0" lvl="0" marL="0" rtl="0" algn="l">
              <a:spcBef>
                <a:spcPts val="1200"/>
              </a:spcBef>
              <a:spcAft>
                <a:spcPts val="1200"/>
              </a:spcAft>
              <a:buNone/>
            </a:pPr>
            <a:r>
              <a:rPr lang="en">
                <a:latin typeface="EB Garamond"/>
                <a:ea typeface="EB Garamond"/>
                <a:cs typeface="EB Garamond"/>
                <a:sym typeface="EB Garamond"/>
              </a:rPr>
              <a:t>Gus Suleiman </a:t>
            </a:r>
            <a:endParaRPr>
              <a:latin typeface="EB Garamond"/>
              <a:ea typeface="EB Garamond"/>
              <a:cs typeface="EB Garamond"/>
              <a:sym typeface="EB Garamo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5"/>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SzPts val="990"/>
              <a:buNone/>
            </a:pPr>
            <a:r>
              <a:rPr lang="en" sz="2600">
                <a:latin typeface="EB Garamond"/>
                <a:ea typeface="EB Garamond"/>
                <a:cs typeface="EB Garamond"/>
                <a:sym typeface="EB Garamond"/>
              </a:rPr>
              <a:t>Background Information &amp; Secondary Data Research </a:t>
            </a:r>
            <a:endParaRPr sz="2600">
              <a:latin typeface="EB Garamond"/>
              <a:ea typeface="EB Garamond"/>
              <a:cs typeface="EB Garamond"/>
              <a:sym typeface="EB Garamond"/>
            </a:endParaRPr>
          </a:p>
        </p:txBody>
      </p:sp>
      <p:sp>
        <p:nvSpPr>
          <p:cNvPr id="76" name="Google Shape;76;p15"/>
          <p:cNvSpPr txBox="1"/>
          <p:nvPr>
            <p:ph idx="1" type="body"/>
          </p:nvPr>
        </p:nvSpPr>
        <p:spPr>
          <a:xfrm>
            <a:off x="387900" y="1489825"/>
            <a:ext cx="3999900" cy="30789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Font typeface="EB Garamond"/>
              <a:buChar char="★"/>
            </a:pPr>
            <a:r>
              <a:rPr lang="en">
                <a:latin typeface="EB Garamond"/>
                <a:ea typeface="EB Garamond"/>
                <a:cs typeface="EB Garamond"/>
                <a:sym typeface="EB Garamond"/>
              </a:rPr>
              <a:t>Background Information </a:t>
            </a:r>
            <a:endParaRPr>
              <a:latin typeface="EB Garamond"/>
              <a:ea typeface="EB Garamond"/>
              <a:cs typeface="EB Garamond"/>
              <a:sym typeface="EB Garamond"/>
            </a:endParaRPr>
          </a:p>
          <a:p>
            <a:pPr indent="-317500" lvl="1" marL="914400" rtl="0" algn="l">
              <a:spcBef>
                <a:spcPts val="0"/>
              </a:spcBef>
              <a:spcAft>
                <a:spcPts val="0"/>
              </a:spcAft>
              <a:buSzPts val="1400"/>
              <a:buFont typeface="EB Garamond"/>
              <a:buChar char="○"/>
            </a:pPr>
            <a:r>
              <a:rPr lang="en" sz="1400">
                <a:latin typeface="EB Garamond"/>
                <a:ea typeface="EB Garamond"/>
                <a:cs typeface="EB Garamond"/>
                <a:sym typeface="EB Garamond"/>
              </a:rPr>
              <a:t>Established in 1980 </a:t>
            </a:r>
            <a:endParaRPr sz="1400">
              <a:latin typeface="EB Garamond"/>
              <a:ea typeface="EB Garamond"/>
              <a:cs typeface="EB Garamond"/>
              <a:sym typeface="EB Garamond"/>
            </a:endParaRPr>
          </a:p>
          <a:p>
            <a:pPr indent="-317500" lvl="1" marL="914400" rtl="0" algn="l">
              <a:spcBef>
                <a:spcPts val="0"/>
              </a:spcBef>
              <a:spcAft>
                <a:spcPts val="0"/>
              </a:spcAft>
              <a:buSzPts val="1400"/>
              <a:buFont typeface="EB Garamond"/>
              <a:buChar char="○"/>
            </a:pPr>
            <a:r>
              <a:rPr lang="en" sz="1400">
                <a:latin typeface="EB Garamond"/>
                <a:ea typeface="EB Garamond"/>
                <a:cs typeface="EB Garamond"/>
                <a:sym typeface="EB Garamond"/>
              </a:rPr>
              <a:t>Made up of approximately 20 employees</a:t>
            </a:r>
            <a:endParaRPr sz="1400">
              <a:latin typeface="EB Garamond"/>
              <a:ea typeface="EB Garamond"/>
              <a:cs typeface="EB Garamond"/>
              <a:sym typeface="EB Garamond"/>
            </a:endParaRPr>
          </a:p>
          <a:p>
            <a:pPr indent="-317500" lvl="0" marL="457200" rtl="0" algn="l">
              <a:spcBef>
                <a:spcPts val="0"/>
              </a:spcBef>
              <a:spcAft>
                <a:spcPts val="0"/>
              </a:spcAft>
              <a:buSzPts val="1400"/>
              <a:buFont typeface="EB Garamond"/>
              <a:buChar char="★"/>
            </a:pPr>
            <a:r>
              <a:rPr lang="en">
                <a:latin typeface="EB Garamond"/>
                <a:ea typeface="EB Garamond"/>
                <a:cs typeface="EB Garamond"/>
                <a:sym typeface="EB Garamond"/>
              </a:rPr>
              <a:t>Size</a:t>
            </a:r>
            <a:endParaRPr>
              <a:latin typeface="EB Garamond"/>
              <a:ea typeface="EB Garamond"/>
              <a:cs typeface="EB Garamond"/>
              <a:sym typeface="EB Garamond"/>
            </a:endParaRPr>
          </a:p>
          <a:p>
            <a:pPr indent="-317500" lvl="1" marL="914400" rtl="0" algn="l">
              <a:spcBef>
                <a:spcPts val="0"/>
              </a:spcBef>
              <a:spcAft>
                <a:spcPts val="0"/>
              </a:spcAft>
              <a:buSzPts val="1400"/>
              <a:buFont typeface="EB Garamond"/>
              <a:buChar char="○"/>
            </a:pPr>
            <a:r>
              <a:rPr lang="en" sz="1400">
                <a:latin typeface="EB Garamond"/>
                <a:ea typeface="EB Garamond"/>
                <a:cs typeface="EB Garamond"/>
                <a:sym typeface="EB Garamond"/>
              </a:rPr>
              <a:t>Estimated 749,000 r</a:t>
            </a:r>
            <a:r>
              <a:rPr lang="en" sz="1400">
                <a:latin typeface="EB Garamond"/>
                <a:ea typeface="EB Garamond"/>
                <a:cs typeface="EB Garamond"/>
                <a:sym typeface="EB Garamond"/>
              </a:rPr>
              <a:t>estaurants</a:t>
            </a:r>
            <a:r>
              <a:rPr lang="en" sz="1400">
                <a:latin typeface="EB Garamond"/>
                <a:ea typeface="EB Garamond"/>
                <a:cs typeface="EB Garamond"/>
                <a:sym typeface="EB Garamond"/>
              </a:rPr>
              <a:t> nationally &amp; 249 within the New Brunswick area </a:t>
            </a:r>
            <a:endParaRPr sz="1400">
              <a:latin typeface="EB Garamond"/>
              <a:ea typeface="EB Garamond"/>
              <a:cs typeface="EB Garamond"/>
              <a:sym typeface="EB Garamond"/>
            </a:endParaRPr>
          </a:p>
          <a:p>
            <a:pPr indent="-317500" lvl="0" marL="457200" rtl="0" algn="l">
              <a:spcBef>
                <a:spcPts val="0"/>
              </a:spcBef>
              <a:spcAft>
                <a:spcPts val="0"/>
              </a:spcAft>
              <a:buSzPts val="1400"/>
              <a:buFont typeface="EB Garamond"/>
              <a:buChar char="★"/>
            </a:pPr>
            <a:r>
              <a:rPr lang="en">
                <a:latin typeface="EB Garamond"/>
                <a:ea typeface="EB Garamond"/>
                <a:cs typeface="EB Garamond"/>
                <a:sym typeface="EB Garamond"/>
              </a:rPr>
              <a:t>Key Players</a:t>
            </a:r>
            <a:endParaRPr>
              <a:latin typeface="EB Garamond"/>
              <a:ea typeface="EB Garamond"/>
              <a:cs typeface="EB Garamond"/>
              <a:sym typeface="EB Garamond"/>
            </a:endParaRPr>
          </a:p>
          <a:p>
            <a:pPr indent="-317500" lvl="1" marL="914400" rtl="0" algn="l">
              <a:spcBef>
                <a:spcPts val="0"/>
              </a:spcBef>
              <a:spcAft>
                <a:spcPts val="0"/>
              </a:spcAft>
              <a:buSzPts val="1400"/>
              <a:buFont typeface="EB Garamond"/>
              <a:buChar char="○"/>
            </a:pPr>
            <a:r>
              <a:rPr lang="en" sz="1400">
                <a:latin typeface="EB Garamond"/>
                <a:ea typeface="EB Garamond"/>
                <a:cs typeface="EB Garamond"/>
                <a:sym typeface="EB Garamond"/>
              </a:rPr>
              <a:t>Labor, Buyers, Suppliers, and Competitors </a:t>
            </a:r>
            <a:endParaRPr sz="1400">
              <a:latin typeface="EB Garamond"/>
              <a:ea typeface="EB Garamond"/>
              <a:cs typeface="EB Garamond"/>
              <a:sym typeface="EB Garamond"/>
            </a:endParaRPr>
          </a:p>
          <a:p>
            <a:pPr indent="-317500" lvl="1" marL="914400" rtl="0" algn="l">
              <a:spcBef>
                <a:spcPts val="0"/>
              </a:spcBef>
              <a:spcAft>
                <a:spcPts val="0"/>
              </a:spcAft>
              <a:buSzPts val="1400"/>
              <a:buFont typeface="EB Garamond"/>
              <a:buChar char="○"/>
            </a:pPr>
            <a:r>
              <a:rPr lang="en" sz="1400">
                <a:latin typeface="EB Garamond"/>
                <a:ea typeface="EB Garamond"/>
                <a:cs typeface="EB Garamond"/>
                <a:sym typeface="EB Garamond"/>
              </a:rPr>
              <a:t>National Competition vs Local Competition </a:t>
            </a:r>
            <a:endParaRPr sz="1400">
              <a:latin typeface="EB Garamond"/>
              <a:ea typeface="EB Garamond"/>
              <a:cs typeface="EB Garamond"/>
              <a:sym typeface="EB Garamond"/>
            </a:endParaRPr>
          </a:p>
          <a:p>
            <a:pPr indent="0" lvl="0" marL="0" rtl="0" algn="l">
              <a:spcBef>
                <a:spcPts val="1200"/>
              </a:spcBef>
              <a:spcAft>
                <a:spcPts val="1200"/>
              </a:spcAft>
              <a:buNone/>
            </a:pPr>
            <a:r>
              <a:t/>
            </a:r>
            <a:endParaRPr/>
          </a:p>
        </p:txBody>
      </p:sp>
      <p:sp>
        <p:nvSpPr>
          <p:cNvPr id="77" name="Google Shape;77;p15"/>
          <p:cNvSpPr txBox="1"/>
          <p:nvPr>
            <p:ph idx="2" type="body"/>
          </p:nvPr>
        </p:nvSpPr>
        <p:spPr>
          <a:xfrm>
            <a:off x="4756200" y="1489825"/>
            <a:ext cx="3999900" cy="30789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Font typeface="EB Garamond"/>
              <a:buChar char="★"/>
            </a:pPr>
            <a:r>
              <a:rPr lang="en">
                <a:latin typeface="EB Garamond"/>
                <a:ea typeface="EB Garamond"/>
                <a:cs typeface="EB Garamond"/>
                <a:sym typeface="EB Garamond"/>
              </a:rPr>
              <a:t>Business</a:t>
            </a:r>
            <a:r>
              <a:rPr lang="en">
                <a:latin typeface="EB Garamond"/>
                <a:ea typeface="EB Garamond"/>
                <a:cs typeface="EB Garamond"/>
                <a:sym typeface="EB Garamond"/>
              </a:rPr>
              <a:t> Trends</a:t>
            </a:r>
            <a:endParaRPr>
              <a:latin typeface="EB Garamond"/>
              <a:ea typeface="EB Garamond"/>
              <a:cs typeface="EB Garamond"/>
              <a:sym typeface="EB Garamond"/>
            </a:endParaRPr>
          </a:p>
          <a:p>
            <a:pPr indent="-317500" lvl="1" marL="914400" rtl="0" algn="l">
              <a:spcBef>
                <a:spcPts val="0"/>
              </a:spcBef>
              <a:spcAft>
                <a:spcPts val="0"/>
              </a:spcAft>
              <a:buSzPts val="1400"/>
              <a:buFont typeface="EB Garamond"/>
              <a:buChar char="○"/>
            </a:pPr>
            <a:r>
              <a:rPr lang="en" sz="1400">
                <a:latin typeface="EB Garamond"/>
                <a:ea typeface="EB Garamond"/>
                <a:cs typeface="EB Garamond"/>
                <a:sym typeface="EB Garamond"/>
              </a:rPr>
              <a:t>Economic trends </a:t>
            </a:r>
            <a:endParaRPr sz="1400">
              <a:latin typeface="EB Garamond"/>
              <a:ea typeface="EB Garamond"/>
              <a:cs typeface="EB Garamond"/>
              <a:sym typeface="EB Garamond"/>
            </a:endParaRPr>
          </a:p>
          <a:p>
            <a:pPr indent="-317500" lvl="0" marL="457200" rtl="0" algn="l">
              <a:spcBef>
                <a:spcPts val="0"/>
              </a:spcBef>
              <a:spcAft>
                <a:spcPts val="0"/>
              </a:spcAft>
              <a:buSzPts val="1400"/>
              <a:buFont typeface="EB Garamond"/>
              <a:buChar char="★"/>
            </a:pPr>
            <a:r>
              <a:rPr lang="en">
                <a:latin typeface="EB Garamond"/>
                <a:ea typeface="EB Garamond"/>
                <a:cs typeface="EB Garamond"/>
                <a:sym typeface="EB Garamond"/>
              </a:rPr>
              <a:t>Industry Best Practices </a:t>
            </a:r>
            <a:endParaRPr>
              <a:latin typeface="EB Garamond"/>
              <a:ea typeface="EB Garamond"/>
              <a:cs typeface="EB Garamond"/>
              <a:sym typeface="EB Garamond"/>
            </a:endParaRPr>
          </a:p>
          <a:p>
            <a:pPr indent="-317500" lvl="1" marL="914400" rtl="0" algn="l">
              <a:spcBef>
                <a:spcPts val="0"/>
              </a:spcBef>
              <a:spcAft>
                <a:spcPts val="0"/>
              </a:spcAft>
              <a:buSzPts val="1400"/>
              <a:buFont typeface="EB Garamond"/>
              <a:buChar char="○"/>
            </a:pPr>
            <a:r>
              <a:rPr lang="en" sz="1400">
                <a:latin typeface="EB Garamond"/>
                <a:ea typeface="EB Garamond"/>
                <a:cs typeface="EB Garamond"/>
                <a:sym typeface="EB Garamond"/>
              </a:rPr>
              <a:t>Menu Optimization</a:t>
            </a:r>
            <a:endParaRPr sz="1400">
              <a:latin typeface="EB Garamond"/>
              <a:ea typeface="EB Garamond"/>
              <a:cs typeface="EB Garamond"/>
              <a:sym typeface="EB Garamond"/>
            </a:endParaRPr>
          </a:p>
          <a:p>
            <a:pPr indent="-317500" lvl="1" marL="914400" rtl="0" algn="l">
              <a:spcBef>
                <a:spcPts val="0"/>
              </a:spcBef>
              <a:spcAft>
                <a:spcPts val="0"/>
              </a:spcAft>
              <a:buSzPts val="1400"/>
              <a:buFont typeface="EB Garamond"/>
              <a:buChar char="○"/>
            </a:pPr>
            <a:r>
              <a:rPr lang="en" sz="1400">
                <a:latin typeface="EB Garamond"/>
                <a:ea typeface="EB Garamond"/>
                <a:cs typeface="EB Garamond"/>
                <a:sym typeface="EB Garamond"/>
              </a:rPr>
              <a:t>Technology</a:t>
            </a:r>
            <a:endParaRPr sz="1400">
              <a:latin typeface="EB Garamond"/>
              <a:ea typeface="EB Garamond"/>
              <a:cs typeface="EB Garamond"/>
              <a:sym typeface="EB Garamond"/>
            </a:endParaRPr>
          </a:p>
          <a:p>
            <a:pPr indent="-317500" lvl="1" marL="914400" rtl="0" algn="l">
              <a:spcBef>
                <a:spcPts val="0"/>
              </a:spcBef>
              <a:spcAft>
                <a:spcPts val="0"/>
              </a:spcAft>
              <a:buSzPts val="1400"/>
              <a:buFont typeface="EB Garamond"/>
              <a:buChar char="○"/>
            </a:pPr>
            <a:r>
              <a:rPr lang="en" sz="1400">
                <a:latin typeface="EB Garamond"/>
                <a:ea typeface="EB Garamond"/>
                <a:cs typeface="EB Garamond"/>
                <a:sym typeface="EB Garamond"/>
              </a:rPr>
              <a:t>Customer service prioritization</a:t>
            </a:r>
            <a:endParaRPr sz="1400">
              <a:latin typeface="EB Garamond"/>
              <a:ea typeface="EB Garamond"/>
              <a:cs typeface="EB Garamond"/>
              <a:sym typeface="EB Garamond"/>
            </a:endParaRPr>
          </a:p>
          <a:p>
            <a:pPr indent="-317500" lvl="1" marL="914400" rtl="0" algn="l">
              <a:spcBef>
                <a:spcPts val="0"/>
              </a:spcBef>
              <a:spcAft>
                <a:spcPts val="0"/>
              </a:spcAft>
              <a:buSzPts val="1400"/>
              <a:buFont typeface="EB Garamond"/>
              <a:buChar char="○"/>
            </a:pPr>
            <a:r>
              <a:rPr lang="en" sz="1400">
                <a:latin typeface="EB Garamond"/>
                <a:ea typeface="EB Garamond"/>
                <a:cs typeface="EB Garamond"/>
                <a:sym typeface="EB Garamond"/>
              </a:rPr>
              <a:t>Financial performance </a:t>
            </a:r>
            <a:endParaRPr sz="1400">
              <a:latin typeface="EB Garamond"/>
              <a:ea typeface="EB Garamond"/>
              <a:cs typeface="EB Garamond"/>
              <a:sym typeface="EB Garamond"/>
            </a:endParaRPr>
          </a:p>
          <a:p>
            <a:pPr indent="-317500" lvl="0" marL="457200" rtl="0" algn="l">
              <a:spcBef>
                <a:spcPts val="0"/>
              </a:spcBef>
              <a:spcAft>
                <a:spcPts val="0"/>
              </a:spcAft>
              <a:buSzPts val="1400"/>
              <a:buFont typeface="EB Garamond"/>
              <a:buChar char="★"/>
            </a:pPr>
            <a:r>
              <a:rPr lang="en">
                <a:latin typeface="EB Garamond"/>
                <a:ea typeface="EB Garamond"/>
                <a:cs typeface="EB Garamond"/>
                <a:sym typeface="EB Garamond"/>
              </a:rPr>
              <a:t>Maturity</a:t>
            </a:r>
            <a:endParaRPr>
              <a:latin typeface="EB Garamond"/>
              <a:ea typeface="EB Garamond"/>
              <a:cs typeface="EB Garamond"/>
              <a:sym typeface="EB Garamond"/>
            </a:endParaRPr>
          </a:p>
          <a:p>
            <a:pPr indent="-317500" lvl="1" marL="914400" rtl="0" algn="l">
              <a:spcBef>
                <a:spcPts val="0"/>
              </a:spcBef>
              <a:spcAft>
                <a:spcPts val="0"/>
              </a:spcAft>
              <a:buSzPts val="1400"/>
              <a:buFont typeface="EB Garamond"/>
              <a:buChar char="○"/>
            </a:pPr>
            <a:r>
              <a:rPr lang="en" sz="1400">
                <a:latin typeface="EB Garamond"/>
                <a:ea typeface="EB Garamond"/>
                <a:cs typeface="EB Garamond"/>
                <a:sym typeface="EB Garamond"/>
              </a:rPr>
              <a:t>Mature but highly dynamic </a:t>
            </a:r>
            <a:endParaRPr sz="1400">
              <a:latin typeface="EB Garamond"/>
              <a:ea typeface="EB Garamond"/>
              <a:cs typeface="EB Garamond"/>
              <a:sym typeface="EB Garamond"/>
            </a:endParaRPr>
          </a:p>
          <a:p>
            <a:pPr indent="-317500" lvl="1" marL="914400" rtl="0" algn="l">
              <a:spcBef>
                <a:spcPts val="0"/>
              </a:spcBef>
              <a:spcAft>
                <a:spcPts val="0"/>
              </a:spcAft>
              <a:buSzPts val="1400"/>
              <a:buFont typeface="EB Garamond"/>
              <a:buChar char="○"/>
            </a:pPr>
            <a:r>
              <a:rPr lang="en" sz="1400">
                <a:latin typeface="EB Garamond"/>
                <a:ea typeface="EB Garamond"/>
                <a:cs typeface="EB Garamond"/>
                <a:sym typeface="EB Garamond"/>
              </a:rPr>
              <a:t>Positive outlook </a:t>
            </a:r>
            <a:endParaRPr sz="1400">
              <a:latin typeface="EB Garamond"/>
              <a:ea typeface="EB Garamond"/>
              <a:cs typeface="EB Garamond"/>
              <a:sym typeface="EB Garamon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6"/>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latin typeface="EB Garamond"/>
                <a:ea typeface="EB Garamond"/>
                <a:cs typeface="EB Garamond"/>
                <a:sym typeface="EB Garamond"/>
              </a:rPr>
              <a:t>Data Collection &amp; Timeline </a:t>
            </a:r>
            <a:endParaRPr>
              <a:latin typeface="EB Garamond"/>
              <a:ea typeface="EB Garamond"/>
              <a:cs typeface="EB Garamond"/>
              <a:sym typeface="EB Garamond"/>
            </a:endParaRPr>
          </a:p>
        </p:txBody>
      </p:sp>
      <p:sp>
        <p:nvSpPr>
          <p:cNvPr id="83" name="Google Shape;83;p16"/>
          <p:cNvSpPr txBox="1"/>
          <p:nvPr>
            <p:ph idx="1" type="body"/>
          </p:nvPr>
        </p:nvSpPr>
        <p:spPr>
          <a:xfrm>
            <a:off x="387900" y="1489825"/>
            <a:ext cx="8368200" cy="174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EB Garamond"/>
                <a:ea typeface="EB Garamond"/>
                <a:cs typeface="EB Garamond"/>
                <a:sym typeface="EB Garamond"/>
              </a:rPr>
              <a:t>Two Primary Methods: </a:t>
            </a:r>
            <a:endParaRPr>
              <a:latin typeface="EB Garamond"/>
              <a:ea typeface="EB Garamond"/>
              <a:cs typeface="EB Garamond"/>
              <a:sym typeface="EB Garamond"/>
            </a:endParaRPr>
          </a:p>
          <a:p>
            <a:pPr indent="-342900" lvl="0" marL="457200" rtl="0" algn="l">
              <a:spcBef>
                <a:spcPts val="1200"/>
              </a:spcBef>
              <a:spcAft>
                <a:spcPts val="0"/>
              </a:spcAft>
              <a:buSzPts val="1800"/>
              <a:buFont typeface="EB Garamond"/>
              <a:buChar char="★"/>
            </a:pPr>
            <a:r>
              <a:rPr lang="en">
                <a:latin typeface="EB Garamond"/>
                <a:ea typeface="EB Garamond"/>
                <a:cs typeface="EB Garamond"/>
                <a:sym typeface="EB Garamond"/>
              </a:rPr>
              <a:t>Interviews </a:t>
            </a:r>
            <a:endParaRPr>
              <a:latin typeface="EB Garamond"/>
              <a:ea typeface="EB Garamond"/>
              <a:cs typeface="EB Garamond"/>
              <a:sym typeface="EB Garamond"/>
            </a:endParaRPr>
          </a:p>
          <a:p>
            <a:pPr indent="-342900" lvl="0" marL="457200" rtl="0" algn="l">
              <a:spcBef>
                <a:spcPts val="0"/>
              </a:spcBef>
              <a:spcAft>
                <a:spcPts val="0"/>
              </a:spcAft>
              <a:buSzPts val="1800"/>
              <a:buFont typeface="EB Garamond"/>
              <a:buChar char="★"/>
            </a:pPr>
            <a:r>
              <a:rPr lang="en">
                <a:latin typeface="EB Garamond"/>
                <a:ea typeface="EB Garamond"/>
                <a:cs typeface="EB Garamond"/>
                <a:sym typeface="EB Garamond"/>
              </a:rPr>
              <a:t>Survey </a:t>
            </a:r>
            <a:endParaRPr>
              <a:latin typeface="EB Garamond"/>
              <a:ea typeface="EB Garamond"/>
              <a:cs typeface="EB Garamond"/>
              <a:sym typeface="EB Garamond"/>
            </a:endParaRPr>
          </a:p>
          <a:p>
            <a:pPr indent="0" lvl="0" marL="0" rtl="0" algn="l">
              <a:spcBef>
                <a:spcPts val="1200"/>
              </a:spcBef>
              <a:spcAft>
                <a:spcPts val="1200"/>
              </a:spcAft>
              <a:buNone/>
            </a:pPr>
            <a:r>
              <a:rPr lang="en">
                <a:latin typeface="EB Garamond"/>
                <a:ea typeface="EB Garamond"/>
                <a:cs typeface="EB Garamond"/>
                <a:sym typeface="EB Garamond"/>
              </a:rPr>
              <a:t>Timeline: </a:t>
            </a:r>
            <a:endParaRPr>
              <a:latin typeface="EB Garamond"/>
              <a:ea typeface="EB Garamond"/>
              <a:cs typeface="EB Garamond"/>
              <a:sym typeface="EB Garamond"/>
            </a:endParaRPr>
          </a:p>
        </p:txBody>
      </p:sp>
      <p:cxnSp>
        <p:nvCxnSpPr>
          <p:cNvPr id="84" name="Google Shape;84;p16"/>
          <p:cNvCxnSpPr/>
          <p:nvPr/>
        </p:nvCxnSpPr>
        <p:spPr>
          <a:xfrm>
            <a:off x="992000" y="3993100"/>
            <a:ext cx="6869100" cy="8400"/>
          </a:xfrm>
          <a:prstGeom prst="straightConnector1">
            <a:avLst/>
          </a:prstGeom>
          <a:noFill/>
          <a:ln cap="flat" cmpd="sng" w="9525">
            <a:solidFill>
              <a:schemeClr val="dk1"/>
            </a:solidFill>
            <a:prstDash val="solid"/>
            <a:round/>
            <a:headEnd len="med" w="med" type="none"/>
            <a:tailEnd len="med" w="med" type="none"/>
          </a:ln>
        </p:spPr>
      </p:cxnSp>
      <p:cxnSp>
        <p:nvCxnSpPr>
          <p:cNvPr id="85" name="Google Shape;85;p16"/>
          <p:cNvCxnSpPr/>
          <p:nvPr/>
        </p:nvCxnSpPr>
        <p:spPr>
          <a:xfrm>
            <a:off x="1096650" y="3938725"/>
            <a:ext cx="0" cy="185400"/>
          </a:xfrm>
          <a:prstGeom prst="straightConnector1">
            <a:avLst/>
          </a:prstGeom>
          <a:noFill/>
          <a:ln cap="flat" cmpd="sng" w="9525">
            <a:solidFill>
              <a:schemeClr val="dk1"/>
            </a:solidFill>
            <a:prstDash val="solid"/>
            <a:round/>
            <a:headEnd len="med" w="med" type="none"/>
            <a:tailEnd len="med" w="med" type="none"/>
          </a:ln>
        </p:spPr>
      </p:cxnSp>
      <p:sp>
        <p:nvSpPr>
          <p:cNvPr id="86" name="Google Shape;86;p16"/>
          <p:cNvSpPr txBox="1"/>
          <p:nvPr/>
        </p:nvSpPr>
        <p:spPr>
          <a:xfrm>
            <a:off x="602400" y="3580313"/>
            <a:ext cx="988500" cy="33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Roboto"/>
                <a:ea typeface="Roboto"/>
                <a:cs typeface="Roboto"/>
                <a:sym typeface="Roboto"/>
              </a:rPr>
              <a:t>October 1st </a:t>
            </a:r>
            <a:endParaRPr sz="1000">
              <a:solidFill>
                <a:schemeClr val="dk1"/>
              </a:solidFill>
              <a:latin typeface="Roboto"/>
              <a:ea typeface="Roboto"/>
              <a:cs typeface="Roboto"/>
              <a:sym typeface="Roboto"/>
            </a:endParaRPr>
          </a:p>
          <a:p>
            <a:pPr indent="0" lvl="0" marL="0" rtl="0" algn="ctr">
              <a:spcBef>
                <a:spcPts val="0"/>
              </a:spcBef>
              <a:spcAft>
                <a:spcPts val="0"/>
              </a:spcAft>
              <a:buNone/>
            </a:pPr>
            <a:r>
              <a:t/>
            </a:r>
            <a:endParaRPr sz="1000">
              <a:solidFill>
                <a:schemeClr val="dk1"/>
              </a:solidFill>
              <a:latin typeface="Roboto"/>
              <a:ea typeface="Roboto"/>
              <a:cs typeface="Roboto"/>
              <a:sym typeface="Roboto"/>
            </a:endParaRPr>
          </a:p>
          <a:p>
            <a:pPr indent="0" lvl="0" marL="0" rtl="0" algn="ctr">
              <a:spcBef>
                <a:spcPts val="0"/>
              </a:spcBef>
              <a:spcAft>
                <a:spcPts val="0"/>
              </a:spcAft>
              <a:buNone/>
            </a:pPr>
            <a:r>
              <a:t/>
            </a:r>
            <a:endParaRPr sz="1000">
              <a:solidFill>
                <a:schemeClr val="dk1"/>
              </a:solidFill>
              <a:latin typeface="Roboto"/>
              <a:ea typeface="Roboto"/>
              <a:cs typeface="Roboto"/>
              <a:sym typeface="Roboto"/>
            </a:endParaRPr>
          </a:p>
        </p:txBody>
      </p:sp>
      <p:sp>
        <p:nvSpPr>
          <p:cNvPr id="87" name="Google Shape;87;p16"/>
          <p:cNvSpPr txBox="1"/>
          <p:nvPr/>
        </p:nvSpPr>
        <p:spPr>
          <a:xfrm>
            <a:off x="648750" y="4124125"/>
            <a:ext cx="895800" cy="43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Roboto"/>
                <a:ea typeface="Roboto"/>
                <a:cs typeface="Roboto"/>
                <a:sym typeface="Roboto"/>
              </a:rPr>
              <a:t>Preliminary Interview </a:t>
            </a:r>
            <a:endParaRPr sz="1000">
              <a:solidFill>
                <a:schemeClr val="dk1"/>
              </a:solidFill>
              <a:latin typeface="Roboto"/>
              <a:ea typeface="Roboto"/>
              <a:cs typeface="Roboto"/>
              <a:sym typeface="Roboto"/>
            </a:endParaRPr>
          </a:p>
          <a:p>
            <a:pPr indent="0" lvl="0" marL="0" rtl="0" algn="l">
              <a:spcBef>
                <a:spcPts val="0"/>
              </a:spcBef>
              <a:spcAft>
                <a:spcPts val="0"/>
              </a:spcAft>
              <a:buNone/>
            </a:pPr>
            <a:r>
              <a:t/>
            </a:r>
            <a:endParaRPr sz="1000">
              <a:solidFill>
                <a:schemeClr val="dk1"/>
              </a:solidFill>
              <a:latin typeface="Roboto"/>
              <a:ea typeface="Roboto"/>
              <a:cs typeface="Roboto"/>
              <a:sym typeface="Roboto"/>
            </a:endParaRPr>
          </a:p>
        </p:txBody>
      </p:sp>
      <p:cxnSp>
        <p:nvCxnSpPr>
          <p:cNvPr id="88" name="Google Shape;88;p16"/>
          <p:cNvCxnSpPr/>
          <p:nvPr/>
        </p:nvCxnSpPr>
        <p:spPr>
          <a:xfrm>
            <a:off x="7473750" y="3904600"/>
            <a:ext cx="0" cy="185400"/>
          </a:xfrm>
          <a:prstGeom prst="straightConnector1">
            <a:avLst/>
          </a:prstGeom>
          <a:noFill/>
          <a:ln cap="flat" cmpd="sng" w="9525">
            <a:solidFill>
              <a:schemeClr val="dk1"/>
            </a:solidFill>
            <a:prstDash val="solid"/>
            <a:round/>
            <a:headEnd len="med" w="med" type="none"/>
            <a:tailEnd len="med" w="med" type="none"/>
          </a:ln>
        </p:spPr>
      </p:cxnSp>
      <p:sp>
        <p:nvSpPr>
          <p:cNvPr id="89" name="Google Shape;89;p16"/>
          <p:cNvSpPr txBox="1"/>
          <p:nvPr/>
        </p:nvSpPr>
        <p:spPr>
          <a:xfrm>
            <a:off x="6902275" y="3580313"/>
            <a:ext cx="12687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dk1"/>
                </a:solidFill>
                <a:latin typeface="Roboto"/>
                <a:ea typeface="Roboto"/>
                <a:cs typeface="Roboto"/>
                <a:sym typeface="Roboto"/>
              </a:rPr>
              <a:t>November 10th </a:t>
            </a:r>
            <a:endParaRPr sz="1000">
              <a:solidFill>
                <a:schemeClr val="dk1"/>
              </a:solidFill>
              <a:latin typeface="Roboto"/>
              <a:ea typeface="Roboto"/>
              <a:cs typeface="Roboto"/>
              <a:sym typeface="Roboto"/>
            </a:endParaRPr>
          </a:p>
        </p:txBody>
      </p:sp>
      <p:sp>
        <p:nvSpPr>
          <p:cNvPr id="90" name="Google Shape;90;p16"/>
          <p:cNvSpPr txBox="1"/>
          <p:nvPr/>
        </p:nvSpPr>
        <p:spPr>
          <a:xfrm>
            <a:off x="6840475" y="4171075"/>
            <a:ext cx="1392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Roboto"/>
                <a:ea typeface="Roboto"/>
                <a:cs typeface="Roboto"/>
                <a:sym typeface="Roboto"/>
              </a:rPr>
              <a:t>Final Day for Surveys </a:t>
            </a:r>
            <a:endParaRPr sz="1000">
              <a:solidFill>
                <a:schemeClr val="dk1"/>
              </a:solidFill>
              <a:latin typeface="Roboto"/>
              <a:ea typeface="Roboto"/>
              <a:cs typeface="Roboto"/>
              <a:sym typeface="Roboto"/>
            </a:endParaRPr>
          </a:p>
        </p:txBody>
      </p:sp>
      <p:sp>
        <p:nvSpPr>
          <p:cNvPr id="91" name="Google Shape;91;p16"/>
          <p:cNvSpPr txBox="1"/>
          <p:nvPr/>
        </p:nvSpPr>
        <p:spPr>
          <a:xfrm>
            <a:off x="3697288" y="3580325"/>
            <a:ext cx="10986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dk1"/>
                </a:solidFill>
                <a:latin typeface="Roboto"/>
                <a:ea typeface="Roboto"/>
                <a:cs typeface="Roboto"/>
                <a:sym typeface="Roboto"/>
              </a:rPr>
              <a:t>October 27th </a:t>
            </a:r>
            <a:endParaRPr sz="1000">
              <a:solidFill>
                <a:schemeClr val="dk1"/>
              </a:solidFill>
              <a:latin typeface="Roboto"/>
              <a:ea typeface="Roboto"/>
              <a:cs typeface="Roboto"/>
              <a:sym typeface="Roboto"/>
            </a:endParaRPr>
          </a:p>
        </p:txBody>
      </p:sp>
      <p:sp>
        <p:nvSpPr>
          <p:cNvPr id="92" name="Google Shape;92;p16"/>
          <p:cNvSpPr txBox="1"/>
          <p:nvPr/>
        </p:nvSpPr>
        <p:spPr>
          <a:xfrm>
            <a:off x="5741875" y="3580325"/>
            <a:ext cx="10986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dk1"/>
                </a:solidFill>
                <a:latin typeface="Roboto"/>
                <a:ea typeface="Roboto"/>
                <a:cs typeface="Roboto"/>
                <a:sym typeface="Roboto"/>
              </a:rPr>
              <a:t>November 1st</a:t>
            </a:r>
            <a:endParaRPr sz="1000">
              <a:solidFill>
                <a:schemeClr val="dk1"/>
              </a:solidFill>
              <a:latin typeface="Roboto"/>
              <a:ea typeface="Roboto"/>
              <a:cs typeface="Roboto"/>
              <a:sym typeface="Roboto"/>
            </a:endParaRPr>
          </a:p>
        </p:txBody>
      </p:sp>
      <p:sp>
        <p:nvSpPr>
          <p:cNvPr id="93" name="Google Shape;93;p16"/>
          <p:cNvSpPr txBox="1"/>
          <p:nvPr/>
        </p:nvSpPr>
        <p:spPr>
          <a:xfrm>
            <a:off x="1924900" y="3580325"/>
            <a:ext cx="10986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dk1"/>
                </a:solidFill>
                <a:latin typeface="Roboto"/>
                <a:ea typeface="Roboto"/>
                <a:cs typeface="Roboto"/>
                <a:sym typeface="Roboto"/>
              </a:rPr>
              <a:t>October 23rd </a:t>
            </a:r>
            <a:endParaRPr sz="1000">
              <a:solidFill>
                <a:schemeClr val="dk1"/>
              </a:solidFill>
              <a:latin typeface="Roboto"/>
              <a:ea typeface="Roboto"/>
              <a:cs typeface="Roboto"/>
              <a:sym typeface="Roboto"/>
            </a:endParaRPr>
          </a:p>
        </p:txBody>
      </p:sp>
      <p:sp>
        <p:nvSpPr>
          <p:cNvPr id="94" name="Google Shape;94;p16"/>
          <p:cNvSpPr txBox="1"/>
          <p:nvPr/>
        </p:nvSpPr>
        <p:spPr>
          <a:xfrm>
            <a:off x="2783375" y="3580325"/>
            <a:ext cx="10986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dk1"/>
                </a:solidFill>
                <a:latin typeface="Roboto"/>
                <a:ea typeface="Roboto"/>
                <a:cs typeface="Roboto"/>
                <a:sym typeface="Roboto"/>
              </a:rPr>
              <a:t>October 26th </a:t>
            </a:r>
            <a:endParaRPr sz="1000">
              <a:solidFill>
                <a:schemeClr val="dk1"/>
              </a:solidFill>
              <a:latin typeface="Roboto"/>
              <a:ea typeface="Roboto"/>
              <a:cs typeface="Roboto"/>
              <a:sym typeface="Roboto"/>
            </a:endParaRPr>
          </a:p>
        </p:txBody>
      </p:sp>
      <p:sp>
        <p:nvSpPr>
          <p:cNvPr id="95" name="Google Shape;95;p16"/>
          <p:cNvSpPr txBox="1"/>
          <p:nvPr/>
        </p:nvSpPr>
        <p:spPr>
          <a:xfrm>
            <a:off x="4572000" y="3580325"/>
            <a:ext cx="1392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dk1"/>
                </a:solidFill>
                <a:latin typeface="Roboto"/>
                <a:ea typeface="Roboto"/>
                <a:cs typeface="Roboto"/>
                <a:sym typeface="Roboto"/>
              </a:rPr>
              <a:t>October 31st </a:t>
            </a:r>
            <a:endParaRPr sz="1000">
              <a:solidFill>
                <a:schemeClr val="dk1"/>
              </a:solidFill>
              <a:latin typeface="Roboto"/>
              <a:ea typeface="Roboto"/>
              <a:cs typeface="Roboto"/>
              <a:sym typeface="Roboto"/>
            </a:endParaRPr>
          </a:p>
        </p:txBody>
      </p:sp>
      <p:cxnSp>
        <p:nvCxnSpPr>
          <p:cNvPr id="96" name="Google Shape;96;p16"/>
          <p:cNvCxnSpPr/>
          <p:nvPr/>
        </p:nvCxnSpPr>
        <p:spPr>
          <a:xfrm flipH="1">
            <a:off x="2400875" y="3765625"/>
            <a:ext cx="10500" cy="791100"/>
          </a:xfrm>
          <a:prstGeom prst="straightConnector1">
            <a:avLst/>
          </a:prstGeom>
          <a:noFill/>
          <a:ln cap="flat" cmpd="sng" w="9525">
            <a:solidFill>
              <a:schemeClr val="dk1"/>
            </a:solidFill>
            <a:prstDash val="solid"/>
            <a:round/>
            <a:headEnd len="med" w="med" type="none"/>
            <a:tailEnd len="med" w="med" type="none"/>
          </a:ln>
        </p:spPr>
      </p:cxnSp>
      <p:cxnSp>
        <p:nvCxnSpPr>
          <p:cNvPr id="97" name="Google Shape;97;p16"/>
          <p:cNvCxnSpPr/>
          <p:nvPr/>
        </p:nvCxnSpPr>
        <p:spPr>
          <a:xfrm>
            <a:off x="3221350" y="3904600"/>
            <a:ext cx="15300" cy="185400"/>
          </a:xfrm>
          <a:prstGeom prst="straightConnector1">
            <a:avLst/>
          </a:prstGeom>
          <a:noFill/>
          <a:ln cap="flat" cmpd="sng" w="9525">
            <a:solidFill>
              <a:schemeClr val="dk1"/>
            </a:solidFill>
            <a:prstDash val="solid"/>
            <a:round/>
            <a:headEnd len="med" w="med" type="none"/>
            <a:tailEnd len="med" w="med" type="none"/>
          </a:ln>
        </p:spPr>
      </p:cxnSp>
      <p:cxnSp>
        <p:nvCxnSpPr>
          <p:cNvPr id="98" name="Google Shape;98;p16"/>
          <p:cNvCxnSpPr/>
          <p:nvPr/>
        </p:nvCxnSpPr>
        <p:spPr>
          <a:xfrm>
            <a:off x="4219338" y="3904600"/>
            <a:ext cx="15300" cy="185400"/>
          </a:xfrm>
          <a:prstGeom prst="straightConnector1">
            <a:avLst/>
          </a:prstGeom>
          <a:noFill/>
          <a:ln cap="flat" cmpd="sng" w="9525">
            <a:solidFill>
              <a:schemeClr val="dk1"/>
            </a:solidFill>
            <a:prstDash val="solid"/>
            <a:round/>
            <a:headEnd len="med" w="med" type="none"/>
            <a:tailEnd len="med" w="med" type="none"/>
          </a:ln>
        </p:spPr>
      </p:cxnSp>
      <p:cxnSp>
        <p:nvCxnSpPr>
          <p:cNvPr id="99" name="Google Shape;99;p16"/>
          <p:cNvCxnSpPr>
            <a:stCxn id="95" idx="2"/>
            <a:endCxn id="100" idx="0"/>
          </p:cNvCxnSpPr>
          <p:nvPr/>
        </p:nvCxnSpPr>
        <p:spPr>
          <a:xfrm>
            <a:off x="5268150" y="3919025"/>
            <a:ext cx="0" cy="560700"/>
          </a:xfrm>
          <a:prstGeom prst="straightConnector1">
            <a:avLst/>
          </a:prstGeom>
          <a:noFill/>
          <a:ln cap="flat" cmpd="sng" w="9525">
            <a:solidFill>
              <a:schemeClr val="dk1"/>
            </a:solidFill>
            <a:prstDash val="solid"/>
            <a:round/>
            <a:headEnd len="med" w="med" type="none"/>
            <a:tailEnd len="med" w="med" type="none"/>
          </a:ln>
        </p:spPr>
      </p:cxnSp>
      <p:cxnSp>
        <p:nvCxnSpPr>
          <p:cNvPr id="101" name="Google Shape;101;p16"/>
          <p:cNvCxnSpPr/>
          <p:nvPr/>
        </p:nvCxnSpPr>
        <p:spPr>
          <a:xfrm>
            <a:off x="6301650" y="3904600"/>
            <a:ext cx="15300" cy="185400"/>
          </a:xfrm>
          <a:prstGeom prst="straightConnector1">
            <a:avLst/>
          </a:prstGeom>
          <a:noFill/>
          <a:ln cap="flat" cmpd="sng" w="9525">
            <a:solidFill>
              <a:schemeClr val="dk1"/>
            </a:solidFill>
            <a:prstDash val="solid"/>
            <a:round/>
            <a:headEnd len="med" w="med" type="none"/>
            <a:tailEnd len="med" w="med" type="none"/>
          </a:ln>
        </p:spPr>
      </p:cxnSp>
      <p:sp>
        <p:nvSpPr>
          <p:cNvPr id="102" name="Google Shape;102;p16"/>
          <p:cNvSpPr txBox="1"/>
          <p:nvPr/>
        </p:nvSpPr>
        <p:spPr>
          <a:xfrm>
            <a:off x="1710050" y="4556725"/>
            <a:ext cx="11604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Roboto"/>
                <a:ea typeface="Roboto"/>
                <a:cs typeface="Roboto"/>
                <a:sym typeface="Roboto"/>
              </a:rPr>
              <a:t>Surveys Sent Out</a:t>
            </a:r>
            <a:endParaRPr sz="1000">
              <a:solidFill>
                <a:schemeClr val="dk1"/>
              </a:solidFill>
              <a:latin typeface="Roboto"/>
              <a:ea typeface="Roboto"/>
              <a:cs typeface="Roboto"/>
              <a:sym typeface="Roboto"/>
            </a:endParaRPr>
          </a:p>
        </p:txBody>
      </p:sp>
      <p:sp>
        <p:nvSpPr>
          <p:cNvPr id="103" name="Google Shape;103;p16"/>
          <p:cNvSpPr txBox="1"/>
          <p:nvPr/>
        </p:nvSpPr>
        <p:spPr>
          <a:xfrm>
            <a:off x="2594650" y="4171075"/>
            <a:ext cx="12687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Roboto"/>
                <a:ea typeface="Roboto"/>
                <a:cs typeface="Roboto"/>
                <a:sym typeface="Roboto"/>
              </a:rPr>
              <a:t>Start of Secondary Research </a:t>
            </a:r>
            <a:endParaRPr sz="1000">
              <a:solidFill>
                <a:schemeClr val="dk1"/>
              </a:solidFill>
              <a:latin typeface="Roboto"/>
              <a:ea typeface="Roboto"/>
              <a:cs typeface="Roboto"/>
              <a:sym typeface="Roboto"/>
            </a:endParaRPr>
          </a:p>
        </p:txBody>
      </p:sp>
      <p:sp>
        <p:nvSpPr>
          <p:cNvPr id="100" name="Google Shape;100;p16"/>
          <p:cNvSpPr txBox="1"/>
          <p:nvPr/>
        </p:nvSpPr>
        <p:spPr>
          <a:xfrm>
            <a:off x="4687938" y="4479775"/>
            <a:ext cx="1160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Roboto"/>
                <a:ea typeface="Roboto"/>
                <a:cs typeface="Roboto"/>
                <a:sym typeface="Roboto"/>
              </a:rPr>
              <a:t>Finish</a:t>
            </a:r>
            <a:r>
              <a:rPr lang="en" sz="1000">
                <a:solidFill>
                  <a:schemeClr val="dk1"/>
                </a:solidFill>
                <a:latin typeface="Roboto"/>
                <a:ea typeface="Roboto"/>
                <a:cs typeface="Roboto"/>
                <a:sym typeface="Roboto"/>
              </a:rPr>
              <a:t> Secondary Research </a:t>
            </a:r>
            <a:endParaRPr sz="1000">
              <a:solidFill>
                <a:schemeClr val="dk1"/>
              </a:solidFill>
              <a:latin typeface="Roboto"/>
              <a:ea typeface="Roboto"/>
              <a:cs typeface="Roboto"/>
              <a:sym typeface="Roboto"/>
            </a:endParaRPr>
          </a:p>
        </p:txBody>
      </p:sp>
      <p:sp>
        <p:nvSpPr>
          <p:cNvPr id="104" name="Google Shape;104;p16"/>
          <p:cNvSpPr txBox="1"/>
          <p:nvPr/>
        </p:nvSpPr>
        <p:spPr>
          <a:xfrm>
            <a:off x="3782200" y="4171075"/>
            <a:ext cx="1098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Roboto"/>
                <a:ea typeface="Roboto"/>
                <a:cs typeface="Roboto"/>
                <a:sym typeface="Roboto"/>
              </a:rPr>
              <a:t>Second set of </a:t>
            </a:r>
            <a:r>
              <a:rPr lang="en" sz="1000">
                <a:solidFill>
                  <a:schemeClr val="dk1"/>
                </a:solidFill>
                <a:latin typeface="Roboto"/>
                <a:ea typeface="Roboto"/>
                <a:cs typeface="Roboto"/>
                <a:sym typeface="Roboto"/>
              </a:rPr>
              <a:t> Interviews</a:t>
            </a:r>
            <a:endParaRPr sz="1000">
              <a:solidFill>
                <a:schemeClr val="dk1"/>
              </a:solidFill>
              <a:latin typeface="Roboto"/>
              <a:ea typeface="Roboto"/>
              <a:cs typeface="Roboto"/>
              <a:sym typeface="Roboto"/>
            </a:endParaRPr>
          </a:p>
        </p:txBody>
      </p:sp>
      <p:sp>
        <p:nvSpPr>
          <p:cNvPr id="105" name="Google Shape;105;p16"/>
          <p:cNvSpPr txBox="1"/>
          <p:nvPr/>
        </p:nvSpPr>
        <p:spPr>
          <a:xfrm>
            <a:off x="5848350" y="4171075"/>
            <a:ext cx="9885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Roboto"/>
                <a:ea typeface="Roboto"/>
                <a:cs typeface="Roboto"/>
                <a:sym typeface="Roboto"/>
              </a:rPr>
              <a:t>Third </a:t>
            </a:r>
            <a:r>
              <a:rPr lang="en" sz="1000">
                <a:solidFill>
                  <a:schemeClr val="dk1"/>
                </a:solidFill>
                <a:latin typeface="Roboto"/>
                <a:ea typeface="Roboto"/>
                <a:cs typeface="Roboto"/>
                <a:sym typeface="Roboto"/>
              </a:rPr>
              <a:t> set of  Interviews</a:t>
            </a:r>
            <a:endParaRPr sz="1000">
              <a:solidFill>
                <a:schemeClr val="dk1"/>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latin typeface="EB Garamond"/>
                <a:ea typeface="EB Garamond"/>
                <a:cs typeface="EB Garamond"/>
                <a:sym typeface="EB Garamond"/>
              </a:rPr>
              <a:t>Output Problem</a:t>
            </a:r>
            <a:endParaRPr>
              <a:latin typeface="EB Garamond"/>
              <a:ea typeface="EB Garamond"/>
              <a:cs typeface="EB Garamond"/>
              <a:sym typeface="EB Garamond"/>
            </a:endParaRPr>
          </a:p>
        </p:txBody>
      </p:sp>
      <p:sp>
        <p:nvSpPr>
          <p:cNvPr id="111" name="Google Shape;111;p17"/>
          <p:cNvSpPr txBox="1"/>
          <p:nvPr>
            <p:ph idx="1" type="body"/>
          </p:nvPr>
        </p:nvSpPr>
        <p:spPr>
          <a:xfrm>
            <a:off x="387900" y="1489825"/>
            <a:ext cx="8368200" cy="34191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200"/>
              <a:t>The Core Challenge: High Employee Turnover</a:t>
            </a:r>
            <a:endParaRPr b="1" sz="1200"/>
          </a:p>
          <a:p>
            <a:pPr indent="-304800" lvl="0" marL="457200" rtl="0" algn="l">
              <a:spcBef>
                <a:spcPts val="1200"/>
              </a:spcBef>
              <a:spcAft>
                <a:spcPts val="0"/>
              </a:spcAft>
              <a:buClr>
                <a:schemeClr val="dk1"/>
              </a:buClr>
              <a:buSzPts val="1200"/>
              <a:buFont typeface="Arial"/>
              <a:buChar char="●"/>
            </a:pPr>
            <a:r>
              <a:rPr b="1" lang="en" sz="1200"/>
              <a:t>Root Cause:</a:t>
            </a:r>
            <a:r>
              <a:rPr lang="en" sz="1200"/>
              <a:t> Reliance on a transient student workforce in a college town.</a:t>
            </a:r>
            <a:endParaRPr sz="1200"/>
          </a:p>
          <a:p>
            <a:pPr indent="-304800" lvl="0" marL="457200" rtl="0" algn="l">
              <a:spcBef>
                <a:spcPts val="0"/>
              </a:spcBef>
              <a:spcAft>
                <a:spcPts val="0"/>
              </a:spcAft>
              <a:buClr>
                <a:schemeClr val="dk1"/>
              </a:buClr>
              <a:buSzPts val="1200"/>
              <a:buFont typeface="Roboto"/>
              <a:buChar char="●"/>
            </a:pPr>
            <a:r>
              <a:rPr b="1" lang="en" sz="1200"/>
              <a:t>Consequences:</a:t>
            </a:r>
            <a:endParaRPr b="1" sz="1200"/>
          </a:p>
          <a:p>
            <a:pPr indent="-304800" lvl="1" marL="914400" rtl="0" algn="l">
              <a:spcBef>
                <a:spcPts val="0"/>
              </a:spcBef>
              <a:spcAft>
                <a:spcPts val="0"/>
              </a:spcAft>
              <a:buClr>
                <a:schemeClr val="dk1"/>
              </a:buClr>
              <a:buSzPts val="1200"/>
              <a:buFont typeface="Arial"/>
              <a:buChar char="○"/>
            </a:pPr>
            <a:r>
              <a:rPr b="1" lang="en" sz="1200"/>
              <a:t>Inconsistency:</a:t>
            </a:r>
            <a:r>
              <a:rPr lang="en" sz="1200"/>
              <a:t> Irregular shift availability and commitment levels.</a:t>
            </a:r>
            <a:endParaRPr sz="1200"/>
          </a:p>
          <a:p>
            <a:pPr indent="-304800" lvl="1" marL="914400" rtl="0" algn="l">
              <a:spcBef>
                <a:spcPts val="0"/>
              </a:spcBef>
              <a:spcAft>
                <a:spcPts val="0"/>
              </a:spcAft>
              <a:buClr>
                <a:schemeClr val="dk1"/>
              </a:buClr>
              <a:buSzPts val="1200"/>
              <a:buFont typeface="Arial"/>
              <a:buChar char="○"/>
            </a:pPr>
            <a:r>
              <a:rPr b="1" lang="en" sz="1200"/>
              <a:t>Low Motivation:</a:t>
            </a:r>
            <a:r>
              <a:rPr lang="en" sz="1200"/>
              <a:t> Employees view the role as "just a college job," leading to lower dedication.</a:t>
            </a:r>
            <a:endParaRPr sz="1200"/>
          </a:p>
          <a:p>
            <a:pPr indent="0" lvl="0" marL="0" rtl="0" algn="l">
              <a:spcBef>
                <a:spcPts val="1200"/>
              </a:spcBef>
              <a:spcAft>
                <a:spcPts val="0"/>
              </a:spcAft>
              <a:buNone/>
            </a:pPr>
            <a:r>
              <a:rPr b="1" lang="en" sz="1200"/>
              <a:t>The Perspective Gap</a:t>
            </a:r>
            <a:endParaRPr b="1" sz="1200"/>
          </a:p>
          <a:p>
            <a:pPr indent="-304800" lvl="0" marL="457200" rtl="0" algn="l">
              <a:spcBef>
                <a:spcPts val="1200"/>
              </a:spcBef>
              <a:spcAft>
                <a:spcPts val="0"/>
              </a:spcAft>
              <a:buClr>
                <a:schemeClr val="dk1"/>
              </a:buClr>
              <a:buSzPts val="1200"/>
              <a:buFont typeface="Roboto"/>
              <a:buChar char="●"/>
            </a:pPr>
            <a:r>
              <a:rPr b="1" lang="en" sz="1200"/>
              <a:t>Management Perspective</a:t>
            </a:r>
            <a:endParaRPr b="1" sz="1200"/>
          </a:p>
          <a:p>
            <a:pPr indent="-304800" lvl="1" marL="914400" rtl="0" algn="l">
              <a:spcBef>
                <a:spcPts val="0"/>
              </a:spcBef>
              <a:spcAft>
                <a:spcPts val="0"/>
              </a:spcAft>
              <a:buClr>
                <a:schemeClr val="dk1"/>
              </a:buClr>
              <a:buSzPts val="1200"/>
              <a:buFont typeface="Roboto"/>
              <a:buChar char="○"/>
            </a:pPr>
            <a:r>
              <a:rPr lang="en" sz="1200"/>
              <a:t>Turnover is a critical conflict that hinders their operations.</a:t>
            </a:r>
            <a:endParaRPr sz="1200"/>
          </a:p>
          <a:p>
            <a:pPr indent="-304800" lvl="1" marL="914400" rtl="0" algn="l">
              <a:spcBef>
                <a:spcPts val="0"/>
              </a:spcBef>
              <a:spcAft>
                <a:spcPts val="0"/>
              </a:spcAft>
              <a:buClr>
                <a:schemeClr val="dk1"/>
              </a:buClr>
              <a:buSzPts val="1200"/>
              <a:buFont typeface="Roboto"/>
              <a:buChar char="○"/>
            </a:pPr>
            <a:r>
              <a:rPr lang="en" sz="1200"/>
              <a:t>Difficulty fostering a "sense of community" or welcoming atmosphere with constantly changing faces.</a:t>
            </a:r>
            <a:endParaRPr sz="1200"/>
          </a:p>
          <a:p>
            <a:pPr indent="-304800" lvl="0" marL="457200" rtl="0" algn="l">
              <a:spcBef>
                <a:spcPts val="0"/>
              </a:spcBef>
              <a:spcAft>
                <a:spcPts val="0"/>
              </a:spcAft>
              <a:buClr>
                <a:schemeClr val="dk1"/>
              </a:buClr>
              <a:buSzPts val="1200"/>
              <a:buFont typeface="Roboto"/>
              <a:buChar char="●"/>
            </a:pPr>
            <a:r>
              <a:rPr b="1" lang="en" sz="1200"/>
              <a:t>Staff Perspective</a:t>
            </a:r>
            <a:endParaRPr b="1" sz="1200"/>
          </a:p>
          <a:p>
            <a:pPr indent="-304800" lvl="1" marL="914400" rtl="0" algn="l">
              <a:spcBef>
                <a:spcPts val="0"/>
              </a:spcBef>
              <a:spcAft>
                <a:spcPts val="0"/>
              </a:spcAft>
              <a:buClr>
                <a:schemeClr val="dk1"/>
              </a:buClr>
              <a:buSzPts val="1200"/>
              <a:buFont typeface="Roboto"/>
              <a:buChar char="○"/>
            </a:pPr>
            <a:r>
              <a:rPr lang="en" sz="1200"/>
              <a:t>Job is viewed primarily as supplemental income.</a:t>
            </a:r>
            <a:endParaRPr sz="1200"/>
          </a:p>
          <a:p>
            <a:pPr indent="-304800" lvl="1" marL="914400" rtl="0" algn="l">
              <a:spcBef>
                <a:spcPts val="0"/>
              </a:spcBef>
              <a:spcAft>
                <a:spcPts val="0"/>
              </a:spcAft>
              <a:buClr>
                <a:schemeClr val="dk1"/>
              </a:buClr>
              <a:buSzPts val="1200"/>
              <a:buFont typeface="Arial"/>
              <a:buChar char="○"/>
            </a:pPr>
            <a:r>
              <a:rPr b="1" lang="en" sz="1200"/>
              <a:t>Priorities:</a:t>
            </a:r>
            <a:r>
              <a:rPr lang="en" sz="1200"/>
              <a:t> Academics and extracurriculars take precedence over work shifts.</a:t>
            </a:r>
            <a:endParaRPr sz="1200"/>
          </a:p>
          <a:p>
            <a:pPr indent="-304800" lvl="1" marL="914400" rtl="0" algn="l">
              <a:spcBef>
                <a:spcPts val="0"/>
              </a:spcBef>
              <a:spcAft>
                <a:spcPts val="0"/>
              </a:spcAft>
              <a:buClr>
                <a:schemeClr val="dk1"/>
              </a:buClr>
              <a:buSzPts val="1200"/>
              <a:buFont typeface="Roboto"/>
              <a:buChar char="○"/>
            </a:pPr>
            <a:r>
              <a:rPr lang="en" sz="1200"/>
              <a:t>Inconsistency is not seen as a problem, but a necessity of student life.</a:t>
            </a:r>
            <a:endParaRPr b="1" sz="12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8"/>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latin typeface="EB Garamond"/>
                <a:ea typeface="EB Garamond"/>
                <a:cs typeface="EB Garamond"/>
                <a:sym typeface="EB Garamond"/>
              </a:rPr>
              <a:t>Course Concept #1 Motivation</a:t>
            </a:r>
            <a:endParaRPr>
              <a:latin typeface="EB Garamond"/>
              <a:ea typeface="EB Garamond"/>
              <a:cs typeface="EB Garamond"/>
              <a:sym typeface="EB Garamond"/>
            </a:endParaRPr>
          </a:p>
        </p:txBody>
      </p:sp>
      <p:sp>
        <p:nvSpPr>
          <p:cNvPr id="117" name="Google Shape;117;p18"/>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“Defined as willingness to exert effort toward a particular end.”</a:t>
            </a:r>
            <a:endParaRPr/>
          </a:p>
          <a:p>
            <a:pPr indent="-317500" lvl="1" marL="914400" rtl="0" algn="l">
              <a:spcBef>
                <a:spcPts val="0"/>
              </a:spcBef>
              <a:spcAft>
                <a:spcPts val="0"/>
              </a:spcAft>
              <a:buSzPts val="1400"/>
              <a:buChar char="○"/>
            </a:pPr>
            <a:r>
              <a:rPr lang="en"/>
              <a:t>Intrinsic</a:t>
            </a:r>
            <a:endParaRPr/>
          </a:p>
          <a:p>
            <a:pPr indent="-317500" lvl="1" marL="914400" rtl="0" algn="l">
              <a:spcBef>
                <a:spcPts val="0"/>
              </a:spcBef>
              <a:spcAft>
                <a:spcPts val="0"/>
              </a:spcAft>
              <a:buSzPts val="1400"/>
              <a:buChar char="○"/>
            </a:pPr>
            <a:r>
              <a:rPr lang="en"/>
              <a:t>Extrinsic</a:t>
            </a:r>
            <a:endParaRPr/>
          </a:p>
          <a:p>
            <a:pPr indent="-342900" lvl="0" marL="457200" rtl="0" algn="l">
              <a:spcBef>
                <a:spcPts val="0"/>
              </a:spcBef>
              <a:spcAft>
                <a:spcPts val="0"/>
              </a:spcAft>
              <a:buSzPts val="1800"/>
              <a:buChar char="●"/>
            </a:pPr>
            <a:r>
              <a:rPr lang="en"/>
              <a:t>Importance of job design when aiming to keep employees engaged and fulfilled</a:t>
            </a:r>
            <a:endParaRPr/>
          </a:p>
          <a:p>
            <a:pPr indent="-317500" lvl="1" marL="914400" rtl="0" algn="l">
              <a:spcBef>
                <a:spcPts val="0"/>
              </a:spcBef>
              <a:spcAft>
                <a:spcPts val="0"/>
              </a:spcAft>
              <a:buSzPts val="1400"/>
              <a:buChar char="○"/>
            </a:pPr>
            <a:r>
              <a:rPr lang="en"/>
              <a:t>Job Enlargement</a:t>
            </a:r>
            <a:endParaRPr/>
          </a:p>
          <a:p>
            <a:pPr indent="-317500" lvl="1" marL="914400" rtl="0" algn="l">
              <a:spcBef>
                <a:spcPts val="0"/>
              </a:spcBef>
              <a:spcAft>
                <a:spcPts val="0"/>
              </a:spcAft>
              <a:buSzPts val="1400"/>
              <a:buChar char="○"/>
            </a:pPr>
            <a:r>
              <a:rPr lang="en"/>
              <a:t>Job Enrichment</a:t>
            </a:r>
            <a:endParaRPr/>
          </a:p>
          <a:p>
            <a:pPr indent="-342900" lvl="0" marL="457200" rtl="0" algn="l">
              <a:spcBef>
                <a:spcPts val="0"/>
              </a:spcBef>
              <a:spcAft>
                <a:spcPts val="0"/>
              </a:spcAft>
              <a:buSzPts val="1800"/>
              <a:buChar char="●"/>
            </a:pPr>
            <a:r>
              <a:rPr lang="en"/>
              <a:t>Employees (especially students)may stay for longer periods if they are assured that they will gain important skills and opportunities that will satisfy their wants.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latin typeface="EB Garamond"/>
                <a:ea typeface="EB Garamond"/>
                <a:cs typeface="EB Garamond"/>
                <a:sym typeface="EB Garamond"/>
              </a:rPr>
              <a:t>Evidence for course concept #1 </a:t>
            </a:r>
            <a:endParaRPr>
              <a:latin typeface="EB Garamond"/>
              <a:ea typeface="EB Garamond"/>
              <a:cs typeface="EB Garamond"/>
              <a:sym typeface="EB Garamond"/>
            </a:endParaRPr>
          </a:p>
        </p:txBody>
      </p:sp>
      <p:sp>
        <p:nvSpPr>
          <p:cNvPr id="123" name="Google Shape;123;p19"/>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Interviews with staff revealed that many believe in adding more job opportunities and depth within their work tasks in order to motivate and retain future employees.</a:t>
            </a:r>
            <a:endParaRPr/>
          </a:p>
          <a:p>
            <a:pPr indent="0" lvl="0" marL="0" rtl="0" algn="l">
              <a:spcBef>
                <a:spcPts val="1200"/>
              </a:spcBef>
              <a:spcAft>
                <a:spcPts val="1200"/>
              </a:spcAft>
              <a:buNone/>
            </a:pPr>
            <a:r>
              <a:t/>
            </a:r>
            <a:endParaRPr/>
          </a:p>
        </p:txBody>
      </p:sp>
      <p:pic>
        <p:nvPicPr>
          <p:cNvPr id="124" name="Google Shape;124;p19"/>
          <p:cNvPicPr preferRelativeResize="0"/>
          <p:nvPr/>
        </p:nvPicPr>
        <p:blipFill>
          <a:blip r:embed="rId3">
            <a:alphaModFix/>
          </a:blip>
          <a:stretch>
            <a:fillRect/>
          </a:stretch>
        </p:blipFill>
        <p:spPr>
          <a:xfrm>
            <a:off x="796900" y="3861638"/>
            <a:ext cx="941225" cy="941225"/>
          </a:xfrm>
          <a:prstGeom prst="rect">
            <a:avLst/>
          </a:prstGeom>
          <a:noFill/>
          <a:ln>
            <a:noFill/>
          </a:ln>
        </p:spPr>
      </p:pic>
      <p:sp>
        <p:nvSpPr>
          <p:cNvPr id="125" name="Google Shape;125;p19"/>
          <p:cNvSpPr txBox="1"/>
          <p:nvPr/>
        </p:nvSpPr>
        <p:spPr>
          <a:xfrm>
            <a:off x="2029100" y="3990075"/>
            <a:ext cx="4821000" cy="857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a:solidFill>
                  <a:schemeClr val="dk1"/>
                </a:solidFill>
                <a:latin typeface="Roboto"/>
                <a:ea typeface="Roboto"/>
                <a:cs typeface="Roboto"/>
                <a:sym typeface="Roboto"/>
              </a:rPr>
              <a:t>“</a:t>
            </a:r>
            <a:r>
              <a:rPr lang="en">
                <a:solidFill>
                  <a:srgbClr val="FF0000"/>
                </a:solidFill>
                <a:latin typeface="Roboto"/>
                <a:ea typeface="Roboto"/>
                <a:cs typeface="Roboto"/>
                <a:sym typeface="Roboto"/>
              </a:rPr>
              <a:t>Open up management positions to spread work and create different job opportunities.</a:t>
            </a:r>
            <a:r>
              <a:rPr lang="en">
                <a:solidFill>
                  <a:schemeClr val="dk1"/>
                </a:solidFill>
                <a:latin typeface="Roboto"/>
                <a:ea typeface="Roboto"/>
                <a:cs typeface="Roboto"/>
                <a:sym typeface="Roboto"/>
              </a:rPr>
              <a:t>”</a:t>
            </a:r>
            <a:endParaRPr sz="1800">
              <a:solidFill>
                <a:schemeClr val="dk1"/>
              </a:solidFill>
              <a:latin typeface="Roboto"/>
              <a:ea typeface="Roboto"/>
              <a:cs typeface="Roboto"/>
              <a:sym typeface="Roboto"/>
            </a:endParaRPr>
          </a:p>
        </p:txBody>
      </p:sp>
      <p:sp>
        <p:nvSpPr>
          <p:cNvPr id="126" name="Google Shape;126;p19"/>
          <p:cNvSpPr txBox="1"/>
          <p:nvPr/>
        </p:nvSpPr>
        <p:spPr>
          <a:xfrm>
            <a:off x="1974050" y="2663575"/>
            <a:ext cx="5285100" cy="731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a:solidFill>
                  <a:schemeClr val="dk1"/>
                </a:solidFill>
                <a:latin typeface="Roboto"/>
                <a:ea typeface="Roboto"/>
                <a:cs typeface="Roboto"/>
                <a:sym typeface="Roboto"/>
              </a:rPr>
              <a:t>“</a:t>
            </a:r>
            <a:r>
              <a:rPr lang="en">
                <a:solidFill>
                  <a:srgbClr val="FF9900"/>
                </a:solidFill>
                <a:latin typeface="Roboto"/>
                <a:ea typeface="Roboto"/>
                <a:cs typeface="Roboto"/>
                <a:sym typeface="Roboto"/>
              </a:rPr>
              <a:t>Allow more opportunities to move up. I want to be a bartender but management is hesitant on moving more servers and barbacks to become bartenders so they don’t very often.</a:t>
            </a:r>
            <a:r>
              <a:rPr lang="en">
                <a:solidFill>
                  <a:schemeClr val="dk1"/>
                </a:solidFill>
                <a:latin typeface="Roboto"/>
                <a:ea typeface="Roboto"/>
                <a:cs typeface="Roboto"/>
                <a:sym typeface="Roboto"/>
              </a:rPr>
              <a:t>”</a:t>
            </a:r>
            <a:endParaRPr sz="1800">
              <a:solidFill>
                <a:schemeClr val="dk1"/>
              </a:solidFill>
              <a:latin typeface="Roboto"/>
              <a:ea typeface="Roboto"/>
              <a:cs typeface="Roboto"/>
              <a:sym typeface="Roboto"/>
            </a:endParaRPr>
          </a:p>
        </p:txBody>
      </p:sp>
      <p:pic>
        <p:nvPicPr>
          <p:cNvPr id="127" name="Google Shape;127;p19"/>
          <p:cNvPicPr preferRelativeResize="0"/>
          <p:nvPr/>
        </p:nvPicPr>
        <p:blipFill>
          <a:blip r:embed="rId3">
            <a:alphaModFix/>
          </a:blip>
          <a:stretch>
            <a:fillRect/>
          </a:stretch>
        </p:blipFill>
        <p:spPr>
          <a:xfrm>
            <a:off x="796900" y="2608488"/>
            <a:ext cx="941225" cy="941225"/>
          </a:xfrm>
          <a:prstGeom prst="rect">
            <a:avLst/>
          </a:prstGeom>
          <a:noFill/>
          <a:ln>
            <a:noFill/>
          </a:ln>
        </p:spPr>
      </p:pic>
      <p:sp>
        <p:nvSpPr>
          <p:cNvPr id="128" name="Google Shape;128;p19"/>
          <p:cNvSpPr txBox="1"/>
          <p:nvPr/>
        </p:nvSpPr>
        <p:spPr>
          <a:xfrm>
            <a:off x="904400" y="4732100"/>
            <a:ext cx="1014600" cy="220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a:solidFill>
                  <a:srgbClr val="FF0000"/>
                </a:solidFill>
                <a:latin typeface="Roboto"/>
                <a:ea typeface="Roboto"/>
                <a:cs typeface="Roboto"/>
                <a:sym typeface="Roboto"/>
              </a:rPr>
              <a:t>Manni</a:t>
            </a:r>
            <a:endParaRPr sz="1800">
              <a:solidFill>
                <a:srgbClr val="FF0000"/>
              </a:solidFill>
              <a:latin typeface="Roboto"/>
              <a:ea typeface="Roboto"/>
              <a:cs typeface="Roboto"/>
              <a:sym typeface="Roboto"/>
            </a:endParaRPr>
          </a:p>
        </p:txBody>
      </p:sp>
      <p:sp>
        <p:nvSpPr>
          <p:cNvPr id="129" name="Google Shape;129;p19"/>
          <p:cNvSpPr txBox="1"/>
          <p:nvPr/>
        </p:nvSpPr>
        <p:spPr>
          <a:xfrm>
            <a:off x="904400" y="3499775"/>
            <a:ext cx="975300" cy="29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a:solidFill>
                  <a:srgbClr val="FF9900"/>
                </a:solidFill>
                <a:latin typeface="Roboto"/>
                <a:ea typeface="Roboto"/>
                <a:cs typeface="Roboto"/>
                <a:sym typeface="Roboto"/>
              </a:rPr>
              <a:t>Shane</a:t>
            </a:r>
            <a:endParaRPr sz="1800">
              <a:solidFill>
                <a:srgbClr val="FF9900"/>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0"/>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latin typeface="EB Garamond"/>
                <a:ea typeface="EB Garamond"/>
                <a:cs typeface="EB Garamond"/>
                <a:sym typeface="EB Garamond"/>
              </a:rPr>
              <a:t>Evidence for course concept #1 </a:t>
            </a:r>
            <a:endParaRPr/>
          </a:p>
        </p:txBody>
      </p:sp>
      <p:sp>
        <p:nvSpPr>
          <p:cNvPr id="135" name="Google Shape;135;p20"/>
          <p:cNvSpPr txBox="1"/>
          <p:nvPr>
            <p:ph idx="1" type="body"/>
          </p:nvPr>
        </p:nvSpPr>
        <p:spPr>
          <a:xfrm>
            <a:off x="387900" y="1489825"/>
            <a:ext cx="8368200" cy="3415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In addition to the </a:t>
            </a:r>
            <a:r>
              <a:rPr lang="en"/>
              <a:t>interviews</a:t>
            </a:r>
            <a:r>
              <a:rPr lang="en"/>
              <a:t> that we performed, a survey was conducted to get a general idea of the staff’s feelings towards the establishment</a:t>
            </a:r>
            <a:endParaRPr/>
          </a:p>
          <a:p>
            <a:pPr indent="-342900" lvl="0" marL="457200" rtl="0" algn="l">
              <a:spcBef>
                <a:spcPts val="0"/>
              </a:spcBef>
              <a:spcAft>
                <a:spcPts val="0"/>
              </a:spcAft>
              <a:buSzPts val="1800"/>
              <a:buChar char="●"/>
            </a:pPr>
            <a:r>
              <a:rPr lang="en"/>
              <a:t>Three notable results were found</a:t>
            </a:r>
            <a:endParaRPr/>
          </a:p>
          <a:p>
            <a:pPr indent="-317500" lvl="1" marL="914400" rtl="0" algn="l">
              <a:spcBef>
                <a:spcPts val="0"/>
              </a:spcBef>
              <a:spcAft>
                <a:spcPts val="0"/>
              </a:spcAft>
              <a:buSzPts val="1400"/>
              <a:buChar char="○"/>
            </a:pPr>
            <a:r>
              <a:rPr lang="en"/>
              <a:t>Participants on average found only mild agreement with the statements of “I am satisfied with my current role at Evelyn’s Restaurant” and “I find my work meaningful”. </a:t>
            </a:r>
            <a:endParaRPr/>
          </a:p>
          <a:p>
            <a:pPr indent="-317500" lvl="1" marL="914400" rtl="0" algn="l">
              <a:spcBef>
                <a:spcPts val="0"/>
              </a:spcBef>
              <a:spcAft>
                <a:spcPts val="0"/>
              </a:spcAft>
              <a:buSzPts val="1400"/>
              <a:buChar char="○"/>
            </a:pPr>
            <a:r>
              <a:rPr lang="en"/>
              <a:t>When given the prompt “I have opportunities to learn/grow within Evelyn’s”, the general </a:t>
            </a:r>
            <a:r>
              <a:rPr lang="en"/>
              <a:t>consensus</a:t>
            </a:r>
            <a:r>
              <a:rPr lang="en"/>
              <a:t> was neutral. From the management perspective, Gus stated “the ability to grow/learn is the largest asset that is given to employees since everyone has the ability to learn better interpersonal skills and think of new ways to do things more efficiently”. Some employees, such as Shane, disagreed with that however, since he believes that “there is not much to grow besides just learning how to bartend”.</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1"/>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latin typeface="EB Garamond"/>
                <a:ea typeface="EB Garamond"/>
                <a:cs typeface="EB Garamond"/>
                <a:sym typeface="EB Garamond"/>
              </a:rPr>
              <a:t>C</a:t>
            </a:r>
            <a:r>
              <a:rPr lang="en">
                <a:latin typeface="EB Garamond"/>
                <a:ea typeface="EB Garamond"/>
                <a:cs typeface="EB Garamond"/>
                <a:sym typeface="EB Garamond"/>
              </a:rPr>
              <a:t>ourse concept #2 Values in the Terminal Regard </a:t>
            </a:r>
            <a:endParaRPr/>
          </a:p>
        </p:txBody>
      </p:sp>
      <p:sp>
        <p:nvSpPr>
          <p:cNvPr id="141" name="Google Shape;141;p21"/>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Defined as the ultimate goals or objectives that individuals strive to achieve in their lives.</a:t>
            </a:r>
            <a:endParaRPr/>
          </a:p>
          <a:p>
            <a:pPr indent="-317500" lvl="1" marL="914400" rtl="0" algn="l">
              <a:spcBef>
                <a:spcPts val="0"/>
              </a:spcBef>
              <a:spcAft>
                <a:spcPts val="0"/>
              </a:spcAft>
              <a:buSzPts val="1400"/>
              <a:buChar char="○"/>
            </a:pPr>
            <a:r>
              <a:rPr lang="en"/>
              <a:t>How individuals long-term goals align with current-term occupations.</a:t>
            </a:r>
            <a:endParaRPr/>
          </a:p>
          <a:p>
            <a:pPr indent="-342900" lvl="0" marL="457200" rtl="0" algn="l">
              <a:spcBef>
                <a:spcPts val="0"/>
              </a:spcBef>
              <a:spcAft>
                <a:spcPts val="0"/>
              </a:spcAft>
              <a:buSzPts val="1800"/>
              <a:buChar char="●"/>
            </a:pPr>
            <a:r>
              <a:rPr lang="en"/>
              <a:t>What specific values or factors that individuals desire in a terminal, “goal” occupation that they strive to achieve? </a:t>
            </a:r>
            <a:endParaRPr/>
          </a:p>
          <a:p>
            <a:pPr indent="-317500" lvl="1" marL="914400" rtl="0" algn="l">
              <a:spcBef>
                <a:spcPts val="0"/>
              </a:spcBef>
              <a:spcAft>
                <a:spcPts val="0"/>
              </a:spcAft>
              <a:buSzPts val="1400"/>
              <a:buChar char="○"/>
            </a:pPr>
            <a:r>
              <a:rPr lang="en"/>
              <a:t>What about the job itself makes it meet an individual’s values in the terminal regard?</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2"/>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latin typeface="EB Garamond"/>
                <a:ea typeface="EB Garamond"/>
                <a:cs typeface="EB Garamond"/>
                <a:sym typeface="EB Garamond"/>
              </a:rPr>
              <a:t>Evidence for course concept #2 </a:t>
            </a:r>
            <a:endParaRPr/>
          </a:p>
        </p:txBody>
      </p:sp>
      <p:sp>
        <p:nvSpPr>
          <p:cNvPr id="147" name="Google Shape;147;p22"/>
          <p:cNvSpPr txBox="1"/>
          <p:nvPr>
            <p:ph idx="1" type="body"/>
          </p:nvPr>
        </p:nvSpPr>
        <p:spPr>
          <a:xfrm>
            <a:off x="387900" y="1489825"/>
            <a:ext cx="8368200" cy="3575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600"/>
              <a:t>Within </a:t>
            </a:r>
            <a:r>
              <a:rPr lang="en" sz="1600"/>
              <a:t>practically</a:t>
            </a:r>
            <a:r>
              <a:rPr lang="en" sz="1600"/>
              <a:t> every interview, all lower-level interviewees  had noted that the reason for leaving Evelyn’s eventually was due to their current work not aligning with their long-term career goals. </a:t>
            </a:r>
            <a:r>
              <a:rPr lang="en" sz="1600"/>
              <a:t>Beth noted “it is nice for a student however doesn’t meet the long-term goals to work as a server”. Jess stated that “as much as I like working here even staying here while I do my master’s degree, this is not exactly something I would like to make my life career”. Manni explained “I’ve stayed here for as long as I have because I respect Gus (the owner) and I work for him for some extra money, but if I were to get a higher-paying full-time job then I would not need the extra money and [hence] not work here anymore”. Sara said that “I like working here a lot, but I don’t want my career in life to just be a bartender especially if I’m getting a college degree in something”.</a:t>
            </a:r>
            <a:endParaRPr sz="1600"/>
          </a:p>
          <a:p>
            <a:pPr indent="0" lvl="0" marL="0" rtl="0" algn="l">
              <a:spcBef>
                <a:spcPts val="12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3"/>
          <p:cNvSpPr txBox="1"/>
          <p:nvPr>
            <p:ph type="title"/>
          </p:nvPr>
        </p:nvSpPr>
        <p:spPr>
          <a:xfrm>
            <a:off x="387900" y="4826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latin typeface="EB Garamond"/>
                <a:ea typeface="EB Garamond"/>
                <a:cs typeface="EB Garamond"/>
                <a:sym typeface="EB Garamond"/>
              </a:rPr>
              <a:t>Evidence for course concept #2 </a:t>
            </a:r>
            <a:endParaRPr/>
          </a:p>
        </p:txBody>
      </p:sp>
      <p:sp>
        <p:nvSpPr>
          <p:cNvPr id="153" name="Google Shape;153;p23"/>
          <p:cNvSpPr txBox="1"/>
          <p:nvPr>
            <p:ph idx="1" type="body"/>
          </p:nvPr>
        </p:nvSpPr>
        <p:spPr>
          <a:xfrm>
            <a:off x="387900" y="1489825"/>
            <a:ext cx="8368200" cy="36537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n" sz="2200"/>
              <a:t>The factors and values that people hold of the job itself are not seen to be met for all lower level employees’ long-term terminal goals for a career. The largest factors about a job itself for the interviewees seemed to heavily be influenced largely by financials, or the amount of money that is earned in a career, and the prestige of the job itself. </a:t>
            </a:r>
            <a:r>
              <a:rPr lang="en" sz="2200"/>
              <a:t>Because of the pay for food servers, bartenders, etc., it is not seen as meeting the individuals’ values on how much they wish to earn in their life careers. Shane specifically said in his interview that “I want to earn a lot of money in my career in life and that is not the case if I stayed here long-term”. The prestige of working at a restaurant / bar does not seem to satisfy the lower-level employees here as they would not feel accomplished saying they worked in a restaurant. Shane also said directly that “if I am going to get a college degree in Business Analytics and Information Technology (BAIT) and I just end up being something like a bartender then that’s kind of sad and my parents would be disappointed”.</a:t>
            </a:r>
            <a:endParaRPr sz="2200"/>
          </a:p>
          <a:p>
            <a:pPr indent="0" lvl="0" marL="0" rtl="0" algn="l">
              <a:spcBef>
                <a:spcPts val="1200"/>
              </a:spcBef>
              <a:spcAft>
                <a:spcPts val="0"/>
              </a:spcAft>
              <a:buNone/>
            </a:pPr>
            <a:r>
              <a:t/>
            </a:r>
            <a:endParaRPr sz="1600"/>
          </a:p>
          <a:p>
            <a:pPr indent="0" lvl="0" marL="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4"/>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latin typeface="EB Garamond"/>
                <a:ea typeface="EB Garamond"/>
                <a:cs typeface="EB Garamond"/>
                <a:sym typeface="EB Garamond"/>
              </a:rPr>
              <a:t>Recommendation #1</a:t>
            </a:r>
            <a:endParaRPr>
              <a:latin typeface="EB Garamond"/>
              <a:ea typeface="EB Garamond"/>
              <a:cs typeface="EB Garamond"/>
              <a:sym typeface="EB Garamond"/>
            </a:endParaRPr>
          </a:p>
        </p:txBody>
      </p:sp>
      <p:sp>
        <p:nvSpPr>
          <p:cNvPr id="159" name="Google Shape;159;p24"/>
          <p:cNvSpPr txBox="1"/>
          <p:nvPr>
            <p:ph idx="1" type="body"/>
          </p:nvPr>
        </p:nvSpPr>
        <p:spPr>
          <a:xfrm>
            <a:off x="387900" y="1489824"/>
            <a:ext cx="8368200" cy="30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t>Core Concept:</a:t>
            </a:r>
            <a:endParaRPr b="1" sz="1400"/>
          </a:p>
          <a:p>
            <a:pPr indent="-317500" lvl="0" marL="457200" rtl="0" algn="l">
              <a:spcBef>
                <a:spcPts val="1200"/>
              </a:spcBef>
              <a:spcAft>
                <a:spcPts val="0"/>
              </a:spcAft>
              <a:buClr>
                <a:schemeClr val="dk1"/>
              </a:buClr>
              <a:buSzPts val="1400"/>
              <a:buFont typeface="Arial"/>
              <a:buChar char="●"/>
            </a:pPr>
            <a:r>
              <a:rPr lang="en" sz="1400"/>
              <a:t>Implement </a:t>
            </a:r>
            <a:r>
              <a:rPr b="1" lang="en" sz="1400"/>
              <a:t>Job Enlargement</a:t>
            </a:r>
            <a:r>
              <a:rPr lang="en" sz="1400"/>
              <a:t> (widening the scope of tasks) and </a:t>
            </a:r>
            <a:r>
              <a:rPr b="1" lang="en" sz="1400"/>
              <a:t>Job Enrichment</a:t>
            </a:r>
            <a:r>
              <a:rPr lang="en" sz="1400"/>
              <a:t> (increasing depth and autonomy).</a:t>
            </a:r>
            <a:endParaRPr sz="1400"/>
          </a:p>
          <a:p>
            <a:pPr indent="-317500" lvl="1" marL="914400" rtl="0" algn="l">
              <a:spcBef>
                <a:spcPts val="0"/>
              </a:spcBef>
              <a:spcAft>
                <a:spcPts val="0"/>
              </a:spcAft>
              <a:buClr>
                <a:schemeClr val="dk1"/>
              </a:buClr>
              <a:buSzPts val="1400"/>
              <a:buFont typeface="Roboto"/>
              <a:buAutoNum type="alphaLcPeriod"/>
            </a:pPr>
            <a:r>
              <a:rPr lang="en"/>
              <a:t>Combat employee stagnation by transforming the "server" role into a developmental opportunity.</a:t>
            </a:r>
            <a:endParaRPr/>
          </a:p>
          <a:p>
            <a:pPr indent="0" lvl="0" marL="0" rtl="0" algn="l">
              <a:spcBef>
                <a:spcPts val="1200"/>
              </a:spcBef>
              <a:spcAft>
                <a:spcPts val="0"/>
              </a:spcAft>
              <a:buNone/>
            </a:pPr>
            <a:r>
              <a:rPr b="1" lang="en" sz="1400"/>
              <a:t>Actionable Steps:</a:t>
            </a:r>
            <a:endParaRPr b="1" sz="1400"/>
          </a:p>
          <a:p>
            <a:pPr indent="-317500" lvl="0" marL="457200" rtl="0" algn="l">
              <a:spcBef>
                <a:spcPts val="1200"/>
              </a:spcBef>
              <a:spcAft>
                <a:spcPts val="0"/>
              </a:spcAft>
              <a:buClr>
                <a:schemeClr val="dk1"/>
              </a:buClr>
              <a:buSzPts val="1400"/>
              <a:buFont typeface="Arial"/>
              <a:buChar char="●"/>
            </a:pPr>
            <a:r>
              <a:rPr b="1" lang="en" sz="1400"/>
              <a:t>Expand Responsibilities:</a:t>
            </a:r>
            <a:r>
              <a:rPr lang="en" sz="1400"/>
              <a:t> Move beyond basic service. Assign staff to manage reservations, assist with inventory, and train new hires.</a:t>
            </a:r>
            <a:endParaRPr sz="1400"/>
          </a:p>
          <a:p>
            <a:pPr indent="-317500" lvl="0" marL="457200" rtl="0" algn="l">
              <a:spcBef>
                <a:spcPts val="0"/>
              </a:spcBef>
              <a:spcAft>
                <a:spcPts val="0"/>
              </a:spcAft>
              <a:buClr>
                <a:schemeClr val="dk1"/>
              </a:buClr>
              <a:buSzPts val="1400"/>
              <a:buFont typeface="Arial"/>
              <a:buChar char="●"/>
            </a:pPr>
            <a:r>
              <a:rPr b="1" lang="en" sz="1400"/>
              <a:t>Creative Input:</a:t>
            </a:r>
            <a:r>
              <a:rPr lang="en" sz="1400"/>
              <a:t> Involve staff in marketing initiatives and menu design.</a:t>
            </a:r>
            <a:endParaRPr sz="1400"/>
          </a:p>
          <a:p>
            <a:pPr indent="-317500" lvl="0" marL="457200" rtl="0" algn="l">
              <a:spcBef>
                <a:spcPts val="0"/>
              </a:spcBef>
              <a:spcAft>
                <a:spcPts val="0"/>
              </a:spcAft>
              <a:buClr>
                <a:schemeClr val="dk1"/>
              </a:buClr>
              <a:buSzPts val="1400"/>
              <a:buFont typeface="Arial"/>
              <a:buChar char="●"/>
            </a:pPr>
            <a:r>
              <a:rPr b="1" lang="en" sz="1400"/>
              <a:t>Increase Autonomy:</a:t>
            </a:r>
            <a:r>
              <a:rPr lang="en" sz="1400"/>
              <a:t> Grant employees more freedom to complete tasks independently, fostering a sense of ownership. </a:t>
            </a:r>
            <a:endParaRPr sz="1400"/>
          </a:p>
          <a:p>
            <a:pPr indent="0" lvl="0" marL="0" rtl="0" algn="l">
              <a:spcBef>
                <a:spcPts val="1200"/>
              </a:spcBef>
              <a:spcAft>
                <a:spcPts val="1200"/>
              </a:spcAft>
              <a:buNone/>
            </a:pPr>
            <a:r>
              <a:t/>
            </a:r>
            <a:endParaRPr sz="14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5"/>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latin typeface="EB Garamond"/>
                <a:ea typeface="EB Garamond"/>
                <a:cs typeface="EB Garamond"/>
                <a:sym typeface="EB Garamond"/>
              </a:rPr>
              <a:t>Advantages and Disadvantages</a:t>
            </a:r>
            <a:endParaRPr>
              <a:latin typeface="EB Garamond"/>
              <a:ea typeface="EB Garamond"/>
              <a:cs typeface="EB Garamond"/>
              <a:sym typeface="EB Garamond"/>
            </a:endParaRPr>
          </a:p>
        </p:txBody>
      </p:sp>
      <p:sp>
        <p:nvSpPr>
          <p:cNvPr id="165" name="Google Shape;165;p25"/>
          <p:cNvSpPr txBox="1"/>
          <p:nvPr>
            <p:ph idx="1" type="body"/>
          </p:nvPr>
        </p:nvSpPr>
        <p:spPr>
          <a:xfrm>
            <a:off x="387900" y="1489824"/>
            <a:ext cx="8368200" cy="30789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300"/>
              <a:t>Advantages</a:t>
            </a:r>
            <a:endParaRPr b="1" sz="1300"/>
          </a:p>
          <a:p>
            <a:pPr indent="-311150" lvl="0" marL="457200" rtl="0" algn="l">
              <a:spcBef>
                <a:spcPts val="1200"/>
              </a:spcBef>
              <a:spcAft>
                <a:spcPts val="0"/>
              </a:spcAft>
              <a:buClr>
                <a:schemeClr val="dk1"/>
              </a:buClr>
              <a:buSzPts val="1300"/>
              <a:buFont typeface="Arial"/>
              <a:buChar char="●"/>
            </a:pPr>
            <a:r>
              <a:rPr b="1" lang="en" sz="1300"/>
              <a:t>Increased Motivation:</a:t>
            </a:r>
            <a:r>
              <a:rPr lang="en" sz="1300"/>
              <a:t> Higher autonomy and task variety lead to greater job satisfaction and engagement.</a:t>
            </a:r>
            <a:endParaRPr sz="1300"/>
          </a:p>
          <a:p>
            <a:pPr indent="-311150" lvl="0" marL="457200" rtl="0" algn="l">
              <a:spcBef>
                <a:spcPts val="0"/>
              </a:spcBef>
              <a:spcAft>
                <a:spcPts val="0"/>
              </a:spcAft>
              <a:buClr>
                <a:schemeClr val="dk1"/>
              </a:buClr>
              <a:buSzPts val="1300"/>
              <a:buFont typeface="Arial"/>
              <a:buChar char="●"/>
            </a:pPr>
            <a:r>
              <a:rPr b="1" lang="en" sz="1300"/>
              <a:t>Skill Development:</a:t>
            </a:r>
            <a:r>
              <a:rPr lang="en" sz="1300"/>
              <a:t> Employees gain valuable </a:t>
            </a:r>
            <a:r>
              <a:rPr lang="en" sz="1300"/>
              <a:t>transferable</a:t>
            </a:r>
            <a:r>
              <a:rPr lang="en" sz="1300"/>
              <a:t> skills (management, inventory, marketing) useful for future endeavors.</a:t>
            </a:r>
            <a:endParaRPr sz="1300"/>
          </a:p>
          <a:p>
            <a:pPr indent="-311150" lvl="0" marL="457200" rtl="0" algn="l">
              <a:spcBef>
                <a:spcPts val="0"/>
              </a:spcBef>
              <a:spcAft>
                <a:spcPts val="0"/>
              </a:spcAft>
              <a:buClr>
                <a:schemeClr val="dk1"/>
              </a:buClr>
              <a:buSzPts val="1300"/>
              <a:buFont typeface="Arial"/>
              <a:buChar char="●"/>
            </a:pPr>
            <a:r>
              <a:rPr b="1" lang="en" sz="1300"/>
              <a:t>Operational Support:</a:t>
            </a:r>
            <a:r>
              <a:rPr lang="en" sz="1300"/>
              <a:t> Delegating tasks relieves minor burdens from upper management in the long run.</a:t>
            </a:r>
            <a:endParaRPr sz="1300"/>
          </a:p>
          <a:p>
            <a:pPr indent="0" lvl="0" marL="0" rtl="0" algn="l">
              <a:spcBef>
                <a:spcPts val="1200"/>
              </a:spcBef>
              <a:spcAft>
                <a:spcPts val="0"/>
              </a:spcAft>
              <a:buNone/>
            </a:pPr>
            <a:r>
              <a:rPr b="1" lang="en" sz="1300"/>
              <a:t>Disadvantages &amp; Risks</a:t>
            </a:r>
            <a:endParaRPr b="1" sz="1300"/>
          </a:p>
          <a:p>
            <a:pPr indent="-311150" lvl="0" marL="457200" rtl="0" algn="l">
              <a:spcBef>
                <a:spcPts val="1200"/>
              </a:spcBef>
              <a:spcAft>
                <a:spcPts val="0"/>
              </a:spcAft>
              <a:buClr>
                <a:schemeClr val="dk1"/>
              </a:buClr>
              <a:buSzPts val="1300"/>
              <a:buFont typeface="Arial"/>
              <a:buChar char="●"/>
            </a:pPr>
            <a:r>
              <a:rPr b="1" lang="en" sz="1300"/>
              <a:t>Burnout Potential:</a:t>
            </a:r>
            <a:r>
              <a:rPr lang="en" sz="1300"/>
              <a:t> Increasing task scope can lead to stress if perceived as simply "more work" without reward. As a result, employees may resign faster.</a:t>
            </a:r>
            <a:endParaRPr sz="1300"/>
          </a:p>
          <a:p>
            <a:pPr indent="-311150" lvl="0" marL="457200" rtl="0" algn="l">
              <a:spcBef>
                <a:spcPts val="0"/>
              </a:spcBef>
              <a:spcAft>
                <a:spcPts val="0"/>
              </a:spcAft>
              <a:buClr>
                <a:schemeClr val="dk1"/>
              </a:buClr>
              <a:buSzPts val="1300"/>
              <a:buFont typeface="Arial"/>
              <a:buChar char="●"/>
            </a:pPr>
            <a:r>
              <a:rPr b="1" lang="en" sz="1300"/>
              <a:t>Training Costs:</a:t>
            </a:r>
            <a:r>
              <a:rPr lang="en" sz="1300"/>
              <a:t> Requires significant time investment from managers to train staff on new responsibilities.</a:t>
            </a:r>
            <a:endParaRPr sz="1300"/>
          </a:p>
          <a:p>
            <a:pPr indent="-311150" lvl="0" marL="457200" rtl="0" algn="l">
              <a:spcBef>
                <a:spcPts val="0"/>
              </a:spcBef>
              <a:spcAft>
                <a:spcPts val="0"/>
              </a:spcAft>
              <a:buClr>
                <a:schemeClr val="dk1"/>
              </a:buClr>
              <a:buSzPts val="1300"/>
              <a:buFont typeface="Arial"/>
              <a:buChar char="●"/>
            </a:pPr>
            <a:r>
              <a:rPr b="1" lang="en" sz="1300"/>
              <a:t>Operational Errors:</a:t>
            </a:r>
            <a:r>
              <a:rPr lang="en" sz="1300"/>
              <a:t> New tasks inevitably lead to a learning curve, potentially causing service errors or inventory mistakes.</a:t>
            </a:r>
            <a:endParaRPr sz="13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6"/>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latin typeface="EB Garamond"/>
                <a:ea typeface="EB Garamond"/>
                <a:cs typeface="EB Garamond"/>
                <a:sym typeface="EB Garamond"/>
              </a:rPr>
              <a:t>Recommendation #2 </a:t>
            </a:r>
            <a:endParaRPr>
              <a:latin typeface="EB Garamond"/>
              <a:ea typeface="EB Garamond"/>
              <a:cs typeface="EB Garamond"/>
              <a:sym typeface="EB Garamond"/>
            </a:endParaRPr>
          </a:p>
        </p:txBody>
      </p:sp>
      <p:sp>
        <p:nvSpPr>
          <p:cNvPr id="171" name="Google Shape;171;p26"/>
          <p:cNvSpPr txBox="1"/>
          <p:nvPr>
            <p:ph idx="1" type="body"/>
          </p:nvPr>
        </p:nvSpPr>
        <p:spPr>
          <a:xfrm>
            <a:off x="269100" y="1431050"/>
            <a:ext cx="4060800" cy="3235500"/>
          </a:xfrm>
          <a:prstGeom prst="rect">
            <a:avLst/>
          </a:prstGeom>
          <a:ln cap="flat" cmpd="sng" w="41325">
            <a:solidFill>
              <a:schemeClr val="dk1"/>
            </a:solidFill>
            <a:prstDash val="solid"/>
            <a:round/>
            <a:headEnd len="sm" w="sm" type="none"/>
            <a:tailEnd len="sm" w="sm" type="none"/>
          </a:ln>
        </p:spPr>
        <p:txBody>
          <a:bodyPr anchorCtr="0" anchor="t" bIns="99200" lIns="99200" spcFirstLastPara="1" rIns="99200" wrap="square" tIns="99200">
            <a:normAutofit fontScale="40000"/>
          </a:bodyPr>
          <a:lstStyle/>
          <a:p>
            <a:pPr indent="0" lvl="0" marL="0" rtl="0" algn="l">
              <a:spcBef>
                <a:spcPts val="0"/>
              </a:spcBef>
              <a:spcAft>
                <a:spcPts val="0"/>
              </a:spcAft>
              <a:buNone/>
            </a:pPr>
            <a:r>
              <a:t/>
            </a:r>
            <a:endParaRPr sz="1953"/>
          </a:p>
          <a:p>
            <a:pPr indent="-382183" lvl="0" marL="496098" rtl="0" algn="l">
              <a:spcBef>
                <a:spcPts val="1302"/>
              </a:spcBef>
              <a:spcAft>
                <a:spcPts val="0"/>
              </a:spcAft>
              <a:buSzPct val="100000"/>
              <a:buChar char="●"/>
            </a:pPr>
            <a:r>
              <a:rPr lang="en" sz="5281"/>
              <a:t>Current e</a:t>
            </a:r>
            <a:r>
              <a:rPr lang="en" sz="5281"/>
              <a:t>mployee turnover rate problem</a:t>
            </a:r>
            <a:endParaRPr sz="5281"/>
          </a:p>
          <a:p>
            <a:pPr indent="-382183" lvl="0" marL="496098" rtl="0" algn="l">
              <a:spcBef>
                <a:spcPts val="0"/>
              </a:spcBef>
              <a:spcAft>
                <a:spcPts val="0"/>
              </a:spcAft>
              <a:buSzPct val="100000"/>
              <a:buChar char="●"/>
            </a:pPr>
            <a:r>
              <a:rPr lang="en" sz="5281"/>
              <a:t>Harsh reality of employee terminal goals interfering with long-term </a:t>
            </a:r>
            <a:r>
              <a:rPr lang="en" sz="5281"/>
              <a:t>employment </a:t>
            </a:r>
            <a:endParaRPr sz="5281"/>
          </a:p>
          <a:p>
            <a:pPr indent="0" lvl="0" marL="0" rtl="0" algn="l">
              <a:spcBef>
                <a:spcPts val="1302"/>
              </a:spcBef>
              <a:spcAft>
                <a:spcPts val="1302"/>
              </a:spcAft>
              <a:buNone/>
            </a:pPr>
            <a:r>
              <a:t/>
            </a:r>
            <a:endParaRPr sz="1953"/>
          </a:p>
        </p:txBody>
      </p:sp>
      <p:sp>
        <p:nvSpPr>
          <p:cNvPr id="172" name="Google Shape;172;p26"/>
          <p:cNvSpPr txBox="1"/>
          <p:nvPr/>
        </p:nvSpPr>
        <p:spPr>
          <a:xfrm>
            <a:off x="237000" y="1368825"/>
            <a:ext cx="4125000" cy="438900"/>
          </a:xfrm>
          <a:prstGeom prst="rect">
            <a:avLst/>
          </a:prstGeom>
          <a:noFill/>
          <a:ln>
            <a:noFill/>
          </a:ln>
        </p:spPr>
        <p:txBody>
          <a:bodyPr anchorCtr="0" anchor="t" bIns="99200" lIns="99200" spcFirstLastPara="1" rIns="99200" wrap="square" tIns="99200">
            <a:noAutofit/>
          </a:bodyPr>
          <a:lstStyle/>
          <a:p>
            <a:pPr indent="0" lvl="0" marL="0" rtl="0" algn="ctr">
              <a:spcBef>
                <a:spcPts val="0"/>
              </a:spcBef>
              <a:spcAft>
                <a:spcPts val="0"/>
              </a:spcAft>
              <a:buNone/>
            </a:pPr>
            <a:r>
              <a:rPr lang="en" sz="2679" u="sng">
                <a:solidFill>
                  <a:schemeClr val="dk1"/>
                </a:solidFill>
                <a:latin typeface="Roboto"/>
                <a:ea typeface="Roboto"/>
                <a:cs typeface="Roboto"/>
                <a:sym typeface="Roboto"/>
              </a:rPr>
              <a:t>Situation</a:t>
            </a:r>
            <a:endParaRPr sz="2679" u="sng">
              <a:solidFill>
                <a:schemeClr val="dk1"/>
              </a:solidFill>
              <a:latin typeface="Roboto"/>
              <a:ea typeface="Roboto"/>
              <a:cs typeface="Roboto"/>
              <a:sym typeface="Roboto"/>
            </a:endParaRPr>
          </a:p>
        </p:txBody>
      </p:sp>
      <p:sp>
        <p:nvSpPr>
          <p:cNvPr id="173" name="Google Shape;173;p26"/>
          <p:cNvSpPr txBox="1"/>
          <p:nvPr>
            <p:ph idx="1" type="body"/>
          </p:nvPr>
        </p:nvSpPr>
        <p:spPr>
          <a:xfrm>
            <a:off x="4858200" y="1431001"/>
            <a:ext cx="4016700" cy="3235500"/>
          </a:xfrm>
          <a:prstGeom prst="rect">
            <a:avLst/>
          </a:prstGeom>
          <a:ln cap="flat" cmpd="sng" w="40250">
            <a:solidFill>
              <a:schemeClr val="dk1"/>
            </a:solidFill>
            <a:prstDash val="solid"/>
            <a:round/>
            <a:headEnd len="sm" w="sm" type="none"/>
            <a:tailEnd len="sm" w="sm" type="none"/>
          </a:ln>
        </p:spPr>
        <p:txBody>
          <a:bodyPr anchorCtr="0" anchor="t" bIns="96600" lIns="96600" spcFirstLastPara="1" rIns="96600" wrap="square" tIns="96600">
            <a:normAutofit fontScale="62500" lnSpcReduction="10000"/>
          </a:bodyPr>
          <a:lstStyle/>
          <a:p>
            <a:pPr indent="0" lvl="0" marL="0" rtl="0" algn="l">
              <a:spcBef>
                <a:spcPts val="0"/>
              </a:spcBef>
              <a:spcAft>
                <a:spcPts val="0"/>
              </a:spcAft>
              <a:buNone/>
            </a:pPr>
            <a:r>
              <a:t/>
            </a:r>
            <a:endParaRPr sz="1902"/>
          </a:p>
          <a:p>
            <a:pPr indent="-367332" lvl="0" marL="483067" rtl="0" algn="l">
              <a:spcBef>
                <a:spcPts val="1268"/>
              </a:spcBef>
              <a:spcAft>
                <a:spcPts val="0"/>
              </a:spcAft>
              <a:buSzPct val="100000"/>
              <a:buChar char="●"/>
            </a:pPr>
            <a:r>
              <a:rPr lang="en" sz="3170"/>
              <a:t>Embrace Employee Goals </a:t>
            </a:r>
            <a:endParaRPr sz="3170"/>
          </a:p>
          <a:p>
            <a:pPr indent="-367332" lvl="0" marL="483067" rtl="0" algn="l">
              <a:spcBef>
                <a:spcPts val="0"/>
              </a:spcBef>
              <a:spcAft>
                <a:spcPts val="0"/>
              </a:spcAft>
              <a:buSzPct val="100000"/>
              <a:buChar char="●"/>
            </a:pPr>
            <a:r>
              <a:rPr lang="en" sz="3170"/>
              <a:t>Create learning </a:t>
            </a:r>
            <a:r>
              <a:rPr lang="en" sz="3170"/>
              <a:t>environment that applies to goals</a:t>
            </a:r>
            <a:r>
              <a:rPr lang="en" sz="3170"/>
              <a:t> </a:t>
            </a:r>
            <a:endParaRPr sz="3170"/>
          </a:p>
          <a:p>
            <a:pPr indent="-367332" lvl="0" marL="483067" rtl="0" algn="l">
              <a:spcBef>
                <a:spcPts val="0"/>
              </a:spcBef>
              <a:spcAft>
                <a:spcPts val="0"/>
              </a:spcAft>
              <a:buSzPct val="100000"/>
              <a:buChar char="●"/>
            </a:pPr>
            <a:r>
              <a:rPr lang="en" sz="3170"/>
              <a:t>Goal-specific benefits and opportunities </a:t>
            </a:r>
            <a:endParaRPr sz="3170"/>
          </a:p>
          <a:p>
            <a:pPr indent="-367332" lvl="0" marL="483067" rtl="0" algn="l">
              <a:spcBef>
                <a:spcPts val="0"/>
              </a:spcBef>
              <a:spcAft>
                <a:spcPts val="0"/>
              </a:spcAft>
              <a:buSzPct val="100000"/>
              <a:buChar char="●"/>
            </a:pPr>
            <a:r>
              <a:rPr lang="en" sz="3170"/>
              <a:t>Internships and learning programs</a:t>
            </a:r>
            <a:endParaRPr sz="3170"/>
          </a:p>
          <a:p>
            <a:pPr indent="0" lvl="0" marL="0" rtl="0" algn="l">
              <a:spcBef>
                <a:spcPts val="1268"/>
              </a:spcBef>
              <a:spcAft>
                <a:spcPts val="1268"/>
              </a:spcAft>
              <a:buNone/>
            </a:pPr>
            <a:r>
              <a:t/>
            </a:r>
            <a:endParaRPr sz="1902"/>
          </a:p>
        </p:txBody>
      </p:sp>
      <p:sp>
        <p:nvSpPr>
          <p:cNvPr id="174" name="Google Shape;174;p26"/>
          <p:cNvSpPr txBox="1"/>
          <p:nvPr/>
        </p:nvSpPr>
        <p:spPr>
          <a:xfrm>
            <a:off x="4858200" y="1374675"/>
            <a:ext cx="4016700" cy="427200"/>
          </a:xfrm>
          <a:prstGeom prst="rect">
            <a:avLst/>
          </a:prstGeom>
          <a:noFill/>
          <a:ln>
            <a:noFill/>
          </a:ln>
        </p:spPr>
        <p:txBody>
          <a:bodyPr anchorCtr="0" anchor="t" bIns="96600" lIns="96600" spcFirstLastPara="1" rIns="96600" wrap="square" tIns="96600">
            <a:noAutofit/>
          </a:bodyPr>
          <a:lstStyle/>
          <a:p>
            <a:pPr indent="0" lvl="0" marL="0" rtl="0" algn="ctr">
              <a:spcBef>
                <a:spcPts val="0"/>
              </a:spcBef>
              <a:spcAft>
                <a:spcPts val="0"/>
              </a:spcAft>
              <a:buNone/>
            </a:pPr>
            <a:r>
              <a:rPr lang="en" sz="2650" u="sng">
                <a:solidFill>
                  <a:schemeClr val="dk1"/>
                </a:solidFill>
                <a:latin typeface="Roboto"/>
                <a:ea typeface="Roboto"/>
                <a:cs typeface="Roboto"/>
                <a:sym typeface="Roboto"/>
              </a:rPr>
              <a:t>Approach</a:t>
            </a:r>
            <a:endParaRPr sz="2650" u="sng">
              <a:solidFill>
                <a:schemeClr val="dk1"/>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7"/>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latin typeface="EB Garamond"/>
                <a:ea typeface="EB Garamond"/>
                <a:cs typeface="EB Garamond"/>
                <a:sym typeface="EB Garamond"/>
              </a:rPr>
              <a:t>Advantages and Disadvantages  </a:t>
            </a:r>
            <a:endParaRPr>
              <a:latin typeface="EB Garamond"/>
              <a:ea typeface="EB Garamond"/>
              <a:cs typeface="EB Garamond"/>
              <a:sym typeface="EB Garamond"/>
            </a:endParaRPr>
          </a:p>
        </p:txBody>
      </p:sp>
      <p:sp>
        <p:nvSpPr>
          <p:cNvPr id="180" name="Google Shape;180;p27"/>
          <p:cNvSpPr txBox="1"/>
          <p:nvPr>
            <p:ph idx="1" type="body"/>
          </p:nvPr>
        </p:nvSpPr>
        <p:spPr>
          <a:xfrm>
            <a:off x="269100" y="1975500"/>
            <a:ext cx="4060800" cy="2032200"/>
          </a:xfrm>
          <a:prstGeom prst="rect">
            <a:avLst/>
          </a:prstGeom>
          <a:ln cap="flat" cmpd="sng" w="41325">
            <a:solidFill>
              <a:schemeClr val="dk1"/>
            </a:solidFill>
            <a:prstDash val="solid"/>
            <a:round/>
            <a:headEnd len="sm" w="sm" type="none"/>
            <a:tailEnd len="sm" w="sm" type="none"/>
          </a:ln>
        </p:spPr>
        <p:txBody>
          <a:bodyPr anchorCtr="0" anchor="t" bIns="99200" lIns="99200" spcFirstLastPara="1" rIns="99200" wrap="square" tIns="99200">
            <a:normAutofit fontScale="40000" lnSpcReduction="20000"/>
          </a:bodyPr>
          <a:lstStyle/>
          <a:p>
            <a:pPr indent="0" lvl="0" marL="0" rtl="0" algn="l">
              <a:spcBef>
                <a:spcPts val="0"/>
              </a:spcBef>
              <a:spcAft>
                <a:spcPts val="0"/>
              </a:spcAft>
              <a:buNone/>
            </a:pPr>
            <a:r>
              <a:t/>
            </a:r>
            <a:endParaRPr sz="1953"/>
          </a:p>
          <a:p>
            <a:pPr indent="-382183" lvl="0" marL="496098" rtl="0" algn="l">
              <a:spcBef>
                <a:spcPts val="1302"/>
              </a:spcBef>
              <a:spcAft>
                <a:spcPts val="0"/>
              </a:spcAft>
              <a:buSzPct val="100000"/>
              <a:buChar char="●"/>
            </a:pPr>
            <a:r>
              <a:rPr lang="en" sz="5281"/>
              <a:t>Reducing employee turnover</a:t>
            </a:r>
            <a:endParaRPr sz="5281"/>
          </a:p>
          <a:p>
            <a:pPr indent="-382183" lvl="0" marL="496098" rtl="0" algn="l">
              <a:spcBef>
                <a:spcPts val="0"/>
              </a:spcBef>
              <a:spcAft>
                <a:spcPts val="0"/>
              </a:spcAft>
              <a:buSzPct val="100000"/>
              <a:buChar char="●"/>
            </a:pPr>
            <a:r>
              <a:rPr lang="en" sz="5281"/>
              <a:t>Stronger employer brand</a:t>
            </a:r>
            <a:endParaRPr sz="5281"/>
          </a:p>
          <a:p>
            <a:pPr indent="-382183" lvl="0" marL="496098" rtl="0" algn="l">
              <a:spcBef>
                <a:spcPts val="0"/>
              </a:spcBef>
              <a:spcAft>
                <a:spcPts val="0"/>
              </a:spcAft>
              <a:buSzPct val="100000"/>
              <a:buChar char="●"/>
            </a:pPr>
            <a:r>
              <a:rPr lang="en" sz="5281"/>
              <a:t>Improved daily operations </a:t>
            </a:r>
            <a:endParaRPr sz="5281"/>
          </a:p>
          <a:p>
            <a:pPr indent="0" lvl="0" marL="0" rtl="0" algn="l">
              <a:spcBef>
                <a:spcPts val="1302"/>
              </a:spcBef>
              <a:spcAft>
                <a:spcPts val="1302"/>
              </a:spcAft>
              <a:buNone/>
            </a:pPr>
            <a:r>
              <a:t/>
            </a:r>
            <a:endParaRPr sz="1953"/>
          </a:p>
        </p:txBody>
      </p:sp>
      <p:sp>
        <p:nvSpPr>
          <p:cNvPr id="181" name="Google Shape;181;p27"/>
          <p:cNvSpPr txBox="1"/>
          <p:nvPr/>
        </p:nvSpPr>
        <p:spPr>
          <a:xfrm>
            <a:off x="269100" y="1919250"/>
            <a:ext cx="4125000" cy="438900"/>
          </a:xfrm>
          <a:prstGeom prst="rect">
            <a:avLst/>
          </a:prstGeom>
          <a:noFill/>
          <a:ln>
            <a:noFill/>
          </a:ln>
        </p:spPr>
        <p:txBody>
          <a:bodyPr anchorCtr="0" anchor="t" bIns="99200" lIns="99200" spcFirstLastPara="1" rIns="99200" wrap="square" tIns="99200">
            <a:noAutofit/>
          </a:bodyPr>
          <a:lstStyle/>
          <a:p>
            <a:pPr indent="0" lvl="0" marL="0" rtl="0" algn="ctr">
              <a:spcBef>
                <a:spcPts val="0"/>
              </a:spcBef>
              <a:spcAft>
                <a:spcPts val="0"/>
              </a:spcAft>
              <a:buNone/>
            </a:pPr>
            <a:r>
              <a:rPr lang="en" sz="2279" u="sng">
                <a:solidFill>
                  <a:schemeClr val="dk1"/>
                </a:solidFill>
                <a:latin typeface="Roboto"/>
                <a:ea typeface="Roboto"/>
                <a:cs typeface="Roboto"/>
                <a:sym typeface="Roboto"/>
              </a:rPr>
              <a:t>Advantages</a:t>
            </a:r>
            <a:endParaRPr sz="2279" u="sng">
              <a:solidFill>
                <a:schemeClr val="dk1"/>
              </a:solidFill>
              <a:latin typeface="Roboto"/>
              <a:ea typeface="Roboto"/>
              <a:cs typeface="Roboto"/>
              <a:sym typeface="Roboto"/>
            </a:endParaRPr>
          </a:p>
        </p:txBody>
      </p:sp>
      <p:sp>
        <p:nvSpPr>
          <p:cNvPr id="182" name="Google Shape;182;p27"/>
          <p:cNvSpPr txBox="1"/>
          <p:nvPr>
            <p:ph idx="1" type="body"/>
          </p:nvPr>
        </p:nvSpPr>
        <p:spPr>
          <a:xfrm>
            <a:off x="4858200" y="1975508"/>
            <a:ext cx="4016700" cy="2032200"/>
          </a:xfrm>
          <a:prstGeom prst="rect">
            <a:avLst/>
          </a:prstGeom>
          <a:ln cap="flat" cmpd="sng" w="40250">
            <a:solidFill>
              <a:schemeClr val="dk1"/>
            </a:solidFill>
            <a:prstDash val="solid"/>
            <a:round/>
            <a:headEnd len="sm" w="sm" type="none"/>
            <a:tailEnd len="sm" w="sm" type="none"/>
          </a:ln>
        </p:spPr>
        <p:txBody>
          <a:bodyPr anchorCtr="0" anchor="t" bIns="96600" lIns="96600" spcFirstLastPara="1" rIns="96600" wrap="square" tIns="96600">
            <a:normAutofit fontScale="85000" lnSpcReduction="20000"/>
          </a:bodyPr>
          <a:lstStyle/>
          <a:p>
            <a:pPr indent="0" lvl="0" marL="0" rtl="0" algn="l">
              <a:spcBef>
                <a:spcPts val="0"/>
              </a:spcBef>
              <a:spcAft>
                <a:spcPts val="0"/>
              </a:spcAft>
              <a:buNone/>
            </a:pPr>
            <a:r>
              <a:t/>
            </a:r>
            <a:endParaRPr sz="1902"/>
          </a:p>
          <a:p>
            <a:pPr indent="-331252" lvl="0" marL="457200" rtl="0" algn="l">
              <a:spcBef>
                <a:spcPts val="1268"/>
              </a:spcBef>
              <a:spcAft>
                <a:spcPts val="0"/>
              </a:spcAft>
              <a:buSzPct val="100000"/>
              <a:buChar char="●"/>
            </a:pPr>
            <a:r>
              <a:rPr lang="en" sz="1902"/>
              <a:t>Additional work perception</a:t>
            </a:r>
            <a:endParaRPr sz="1902"/>
          </a:p>
          <a:p>
            <a:pPr indent="-331252" lvl="0" marL="457200" rtl="0" algn="l">
              <a:spcBef>
                <a:spcPts val="0"/>
              </a:spcBef>
              <a:spcAft>
                <a:spcPts val="0"/>
              </a:spcAft>
              <a:buSzPct val="100000"/>
              <a:buChar char="●"/>
            </a:pPr>
            <a:r>
              <a:rPr lang="en" sz="1902"/>
              <a:t>Financial risks</a:t>
            </a:r>
            <a:endParaRPr sz="1902"/>
          </a:p>
          <a:p>
            <a:pPr indent="-331252" lvl="0" marL="457200" rtl="0" algn="l">
              <a:spcBef>
                <a:spcPts val="0"/>
              </a:spcBef>
              <a:spcAft>
                <a:spcPts val="0"/>
              </a:spcAft>
              <a:buSzPct val="100000"/>
              <a:buChar char="●"/>
            </a:pPr>
            <a:r>
              <a:rPr lang="en" sz="1902"/>
              <a:t>Counterproductive employee acceleration</a:t>
            </a:r>
            <a:endParaRPr sz="1902"/>
          </a:p>
          <a:p>
            <a:pPr indent="0" lvl="0" marL="0" rtl="0" algn="l">
              <a:spcBef>
                <a:spcPts val="1268"/>
              </a:spcBef>
              <a:spcAft>
                <a:spcPts val="1268"/>
              </a:spcAft>
              <a:buNone/>
            </a:pPr>
            <a:r>
              <a:t/>
            </a:r>
            <a:endParaRPr sz="1902"/>
          </a:p>
        </p:txBody>
      </p:sp>
      <p:sp>
        <p:nvSpPr>
          <p:cNvPr id="183" name="Google Shape;183;p27"/>
          <p:cNvSpPr txBox="1"/>
          <p:nvPr/>
        </p:nvSpPr>
        <p:spPr>
          <a:xfrm>
            <a:off x="4858200" y="1946750"/>
            <a:ext cx="4016700" cy="427200"/>
          </a:xfrm>
          <a:prstGeom prst="rect">
            <a:avLst/>
          </a:prstGeom>
          <a:noFill/>
          <a:ln>
            <a:noFill/>
          </a:ln>
        </p:spPr>
        <p:txBody>
          <a:bodyPr anchorCtr="0" anchor="t" bIns="96600" lIns="96600" spcFirstLastPara="1" rIns="96600" wrap="square" tIns="96600">
            <a:noAutofit/>
          </a:bodyPr>
          <a:lstStyle/>
          <a:p>
            <a:pPr indent="0" lvl="0" marL="0" rtl="0" algn="ctr">
              <a:spcBef>
                <a:spcPts val="0"/>
              </a:spcBef>
              <a:spcAft>
                <a:spcPts val="0"/>
              </a:spcAft>
              <a:buNone/>
            </a:pPr>
            <a:r>
              <a:rPr lang="en" sz="2219" u="sng">
                <a:solidFill>
                  <a:schemeClr val="dk1"/>
                </a:solidFill>
                <a:latin typeface="Roboto"/>
                <a:ea typeface="Roboto"/>
                <a:cs typeface="Roboto"/>
                <a:sym typeface="Roboto"/>
              </a:rPr>
              <a:t>Disadvantages</a:t>
            </a:r>
            <a:endParaRPr sz="2219" u="sng">
              <a:solidFill>
                <a:schemeClr val="dk1"/>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8"/>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latin typeface="EB Garamond"/>
                <a:ea typeface="EB Garamond"/>
                <a:cs typeface="EB Garamond"/>
                <a:sym typeface="EB Garamond"/>
              </a:rPr>
              <a:t>Communication Strategy &amp; Influencing Tactics </a:t>
            </a:r>
            <a:endParaRPr>
              <a:latin typeface="EB Garamond"/>
              <a:ea typeface="EB Garamond"/>
              <a:cs typeface="EB Garamond"/>
              <a:sym typeface="EB Garamond"/>
            </a:endParaRPr>
          </a:p>
        </p:txBody>
      </p:sp>
      <p:sp>
        <p:nvSpPr>
          <p:cNvPr id="189" name="Google Shape;189;p28"/>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Main Communication &amp; Influencing Tactics</a:t>
            </a:r>
            <a:endParaRPr/>
          </a:p>
          <a:p>
            <a:pPr indent="-342900" lvl="0" marL="457200" rtl="0" algn="l">
              <a:spcBef>
                <a:spcPts val="1200"/>
              </a:spcBef>
              <a:spcAft>
                <a:spcPts val="0"/>
              </a:spcAft>
              <a:buSzPts val="1800"/>
              <a:buAutoNum type="arabicPeriod"/>
            </a:pPr>
            <a:r>
              <a:rPr b="1" lang="en"/>
              <a:t>Social Proof</a:t>
            </a:r>
            <a:endParaRPr b="1"/>
          </a:p>
          <a:p>
            <a:pPr indent="-317500" lvl="1" marL="914400" rtl="0" algn="l">
              <a:spcBef>
                <a:spcPts val="0"/>
              </a:spcBef>
              <a:spcAft>
                <a:spcPts val="0"/>
              </a:spcAft>
              <a:buSzPts val="1400"/>
              <a:buAutoNum type="alphaLcPeriod"/>
            </a:pPr>
            <a:r>
              <a:rPr lang="en"/>
              <a:t>Respected companies like Starbuck and McDonalds utilize Terminal goal-oriented programs</a:t>
            </a:r>
            <a:endParaRPr/>
          </a:p>
          <a:p>
            <a:pPr indent="-317500" lvl="1" marL="914400" rtl="0" algn="l">
              <a:spcBef>
                <a:spcPts val="0"/>
              </a:spcBef>
              <a:spcAft>
                <a:spcPts val="0"/>
              </a:spcAft>
              <a:buSzPts val="1400"/>
              <a:buAutoNum type="alphaLcPeriod"/>
            </a:pPr>
            <a:r>
              <a:rPr lang="en"/>
              <a:t>Provide positive results </a:t>
            </a:r>
            <a:r>
              <a:rPr lang="en"/>
              <a:t>through</a:t>
            </a:r>
            <a:r>
              <a:rPr lang="en"/>
              <a:t> these methods</a:t>
            </a:r>
            <a:endParaRPr/>
          </a:p>
          <a:p>
            <a:pPr indent="-317500" lvl="1" marL="914400" rtl="0" algn="l">
              <a:spcBef>
                <a:spcPts val="0"/>
              </a:spcBef>
              <a:spcAft>
                <a:spcPts val="0"/>
              </a:spcAft>
              <a:buSzPts val="1400"/>
              <a:buAutoNum type="alphaLcPeriod"/>
            </a:pPr>
            <a:r>
              <a:rPr lang="en"/>
              <a:t>Can be adapted to Evelyn’s Business Model</a:t>
            </a:r>
            <a:endParaRPr/>
          </a:p>
          <a:p>
            <a:pPr indent="-342900" lvl="0" marL="457200" rtl="0" algn="l">
              <a:spcBef>
                <a:spcPts val="0"/>
              </a:spcBef>
              <a:spcAft>
                <a:spcPts val="0"/>
              </a:spcAft>
              <a:buSzPts val="1800"/>
              <a:buAutoNum type="arabicPeriod"/>
            </a:pPr>
            <a:r>
              <a:rPr b="1" lang="en"/>
              <a:t>Authority </a:t>
            </a:r>
            <a:r>
              <a:rPr b="1" lang="en"/>
              <a:t> </a:t>
            </a:r>
            <a:endParaRPr b="1"/>
          </a:p>
          <a:p>
            <a:pPr indent="-317500" lvl="1" marL="914400" rtl="0" algn="l">
              <a:spcBef>
                <a:spcPts val="0"/>
              </a:spcBef>
              <a:spcAft>
                <a:spcPts val="0"/>
              </a:spcAft>
              <a:buSzPts val="1400"/>
              <a:buAutoNum type="alphaLcPeriod"/>
            </a:pPr>
            <a:r>
              <a:rPr lang="en"/>
              <a:t>Respected companies like Volvo and and Hartford Financial Group agree with utilizing job enrichment </a:t>
            </a:r>
            <a:endParaRPr/>
          </a:p>
          <a:p>
            <a:pPr indent="-317500" lvl="1" marL="914400" rtl="0" algn="l">
              <a:spcBef>
                <a:spcPts val="0"/>
              </a:spcBef>
              <a:spcAft>
                <a:spcPts val="0"/>
              </a:spcAft>
              <a:buSzPts val="1400"/>
              <a:buAutoNum type="alphaLcPeriod"/>
            </a:pPr>
            <a:r>
              <a:rPr lang="en"/>
              <a:t>Evidence points to these methods of Job enrichment increasing motivation</a:t>
            </a:r>
            <a:endParaRPr/>
          </a:p>
          <a:p>
            <a:pPr indent="-317500" lvl="1" marL="914400" rtl="0" algn="l">
              <a:spcBef>
                <a:spcPts val="0"/>
              </a:spcBef>
              <a:spcAft>
                <a:spcPts val="0"/>
              </a:spcAft>
              <a:buSzPts val="1400"/>
              <a:buAutoNum type="alphaLcPeriod"/>
            </a:pPr>
            <a:r>
              <a:rPr lang="en"/>
              <a:t>These same strategies can be adapted to Evelyn’s Business Model</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