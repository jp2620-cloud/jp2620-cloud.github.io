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sldIdLst>
    <p:sldId id="256" r:id="rId2"/>
    <p:sldId id="257" r:id="rId3"/>
    <p:sldId id="261" r:id="rId4"/>
    <p:sldId id="259" r:id="rId5"/>
    <p:sldId id="262" r:id="rId6"/>
    <p:sldId id="263" r:id="rId7"/>
    <p:sldId id="264" r:id="rId8"/>
    <p:sldId id="265" r:id="rId9"/>
    <p:sldId id="260" r:id="rId10"/>
    <p:sldId id="276" r:id="rId11"/>
    <p:sldId id="267" r:id="rId12"/>
    <p:sldId id="268" r:id="rId13"/>
    <p:sldId id="269" r:id="rId14"/>
    <p:sldId id="270" r:id="rId15"/>
    <p:sldId id="277" r:id="rId16"/>
    <p:sldId id="278" r:id="rId17"/>
    <p:sldId id="279" r:id="rId18"/>
    <p:sldId id="28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82D3C5-786A-2A37-43C5-0E1F45A1456F}" v="2" dt="2026-04-28T15:29:57.1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Sunday, October 4, 2026</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8255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Sunday, October 4, 2026</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339618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Sunday, October 4, 2026</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056005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Sunday, October 4, 2026</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094144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Sunday, October 4, 2026</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62963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Sunday, October 4, 2026</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828401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Sunday, October 4, 2026</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69916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Sunday, October 4, 2026</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36433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Sunday, October 4, 2026</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682170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Sunday, October 4, 2026</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269246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Sunday, October 4, 2026</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76534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Sunday, October 4, 2026</a:t>
            </a:fld>
            <a:endParaRPr lang="en-US" cap="all"/>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a:p>
        </p:txBody>
      </p:sp>
    </p:spTree>
    <p:extLst>
      <p:ext uri="{BB962C8B-B14F-4D97-AF65-F5344CB8AC3E}">
        <p14:creationId xmlns:p14="http://schemas.microsoft.com/office/powerpoint/2010/main" val="15094266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49" r:id="rId4"/>
    <p:sldLayoutId id="2147483750" r:id="rId5"/>
    <p:sldLayoutId id="2147483755" r:id="rId6"/>
    <p:sldLayoutId id="2147483751" r:id="rId7"/>
    <p:sldLayoutId id="2147483752" r:id="rId8"/>
    <p:sldLayoutId id="2147483753" r:id="rId9"/>
    <p:sldLayoutId id="2147483754" r:id="rId10"/>
    <p:sldLayoutId id="2147483756"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chemeClr val="accent2"/>
              </a:gs>
              <a:gs pos="100000">
                <a:schemeClr val="accent6">
                  <a:lumMod val="75000"/>
                  <a:alpha val="8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5">
                  <a:alpha val="35000"/>
                </a:schemeClr>
              </a:gs>
              <a:gs pos="100000">
                <a:schemeClr val="accent6">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A8165912-903F-A372-3A72-696F9D9E2412}"/>
              </a:ext>
            </a:extLst>
          </p:cNvPr>
          <p:cNvPicPr>
            <a:picLocks noChangeAspect="1"/>
          </p:cNvPicPr>
          <p:nvPr/>
        </p:nvPicPr>
        <p:blipFill>
          <a:blip r:embed="rId2"/>
          <a:srcRect l="5081" r="7" b="7"/>
          <a:stretch>
            <a:fillRect/>
          </a:stretch>
        </p:blipFill>
        <p:spPr>
          <a:xfrm>
            <a:off x="4038599" y="10"/>
            <a:ext cx="8160026" cy="6875809"/>
          </a:xfrm>
          <a:prstGeom prst="rect">
            <a:avLst/>
          </a:prstGeom>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4">
                  <a:lumMod val="20000"/>
                  <a:lumOff val="80000"/>
                  <a:alpha val="0"/>
                </a:schemeClr>
              </a:gs>
              <a:gs pos="100000">
                <a:schemeClr val="accent6">
                  <a:alpha val="29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463825" y="1051160"/>
            <a:ext cx="3077044" cy="3531403"/>
          </a:xfrm>
        </p:spPr>
        <p:txBody>
          <a:bodyPr anchor="t">
            <a:normAutofit/>
          </a:bodyPr>
          <a:lstStyle/>
          <a:p>
            <a:pPr algn="r"/>
            <a:r>
              <a:rPr lang="en-US" sz="3200" b="0">
                <a:solidFill>
                  <a:schemeClr val="bg1"/>
                </a:solidFill>
                <a:ea typeface="+mj-lt"/>
                <a:cs typeface="+mj-lt"/>
              </a:rPr>
              <a:t>RU 24/7 Food Hub: A Student-Centered Business Solution</a:t>
            </a:r>
            <a:endParaRPr lang="en-US">
              <a:solidFill>
                <a:schemeClr val="bg1"/>
              </a:solidFill>
              <a:ea typeface="+mj-lt"/>
              <a:cs typeface="+mj-lt"/>
            </a:endParaRPr>
          </a:p>
          <a:p>
            <a:pPr algn="r"/>
            <a:endParaRPr lang="en-US" sz="3200">
              <a:solidFill>
                <a:schemeClr val="bg1"/>
              </a:solidFill>
            </a:endParaRPr>
          </a:p>
        </p:txBody>
      </p:sp>
      <p:sp>
        <p:nvSpPr>
          <p:cNvPr id="3" name="Subtitle 2"/>
          <p:cNvSpPr>
            <a:spLocks noGrp="1"/>
          </p:cNvSpPr>
          <p:nvPr>
            <p:ph type="subTitle" idx="1"/>
          </p:nvPr>
        </p:nvSpPr>
        <p:spPr>
          <a:xfrm>
            <a:off x="601617" y="4411015"/>
            <a:ext cx="2937753" cy="1600225"/>
          </a:xfrm>
        </p:spPr>
        <p:txBody>
          <a:bodyPr anchor="b">
            <a:normAutofit/>
          </a:bodyPr>
          <a:lstStyle/>
          <a:p>
            <a:pPr algn="r"/>
            <a:r>
              <a:rPr lang="en-US" sz="1200">
                <a:solidFill>
                  <a:schemeClr val="bg1"/>
                </a:solidFill>
              </a:rPr>
              <a:t>Dhruvi Patel, Ariel Zilinski, Jun Park, Suhas </a:t>
            </a:r>
            <a:r>
              <a:rPr lang="en-US" sz="1200" err="1">
                <a:solidFill>
                  <a:schemeClr val="bg1"/>
                </a:solidFill>
              </a:rPr>
              <a:t>sunkari</a:t>
            </a:r>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DBE48F5C-3267-16E7-DD86-C54F5D146BBA}"/>
              </a:ext>
            </a:extLst>
          </p:cNvPr>
          <p:cNvPicPr>
            <a:picLocks noChangeAspect="1"/>
          </p:cNvPicPr>
          <p:nvPr/>
        </p:nvPicPr>
        <p:blipFill>
          <a:blip r:embed="rId3"/>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3FAD1-DB9D-BA1A-CDF8-FB9FCF2799D2}"/>
              </a:ext>
            </a:extLst>
          </p:cNvPr>
          <p:cNvSpPr>
            <a:spLocks noGrp="1"/>
          </p:cNvSpPr>
          <p:nvPr>
            <p:ph type="title"/>
          </p:nvPr>
        </p:nvSpPr>
        <p:spPr>
          <a:xfrm>
            <a:off x="434122" y="490043"/>
            <a:ext cx="10057430" cy="853210"/>
          </a:xfrm>
        </p:spPr>
        <p:txBody>
          <a:bodyPr anchor="b">
            <a:normAutofit/>
          </a:bodyPr>
          <a:lstStyle/>
          <a:p>
            <a:r>
              <a:rPr lang="en-US">
                <a:ea typeface="+mj-lt"/>
                <a:cs typeface="+mj-lt"/>
              </a:rPr>
              <a:t>Business Concept</a:t>
            </a:r>
            <a:endParaRPr lang="en-US"/>
          </a:p>
        </p:txBody>
      </p:sp>
      <p:sp>
        <p:nvSpPr>
          <p:cNvPr id="3" name="Content Placeholder 2">
            <a:extLst>
              <a:ext uri="{FF2B5EF4-FFF2-40B4-BE49-F238E27FC236}">
                <a16:creationId xmlns:a16="http://schemas.microsoft.com/office/drawing/2014/main" id="{C8598EC6-959B-BA90-14A3-AD0D8FB56685}"/>
              </a:ext>
            </a:extLst>
          </p:cNvPr>
          <p:cNvSpPr>
            <a:spLocks noGrp="1"/>
          </p:cNvSpPr>
          <p:nvPr>
            <p:ph idx="1"/>
          </p:nvPr>
        </p:nvSpPr>
        <p:spPr>
          <a:xfrm>
            <a:off x="683470" y="1854168"/>
            <a:ext cx="6443177" cy="3892596"/>
          </a:xfrm>
        </p:spPr>
        <p:txBody>
          <a:bodyPr vert="horz" lIns="0" tIns="0" rIns="0" bIns="0" rtlCol="0" anchor="t">
            <a:noAutofit/>
          </a:bodyPr>
          <a:lstStyle/>
          <a:p>
            <a:r>
              <a:rPr lang="en-US" sz="2400">
                <a:ea typeface="+mn-lt"/>
                <a:cs typeface="+mn-lt"/>
              </a:rPr>
              <a:t>RU 24/7 Food Hub is a student-focused, on-campus convenience food service </a:t>
            </a:r>
          </a:p>
          <a:p>
            <a:r>
              <a:rPr lang="en-US" sz="2400">
                <a:ea typeface="+mn-lt"/>
                <a:cs typeface="+mn-lt"/>
              </a:rPr>
              <a:t>Provides meals, snacks, and everyday essentials </a:t>
            </a:r>
            <a:endParaRPr lang="en-US" sz="2400"/>
          </a:p>
          <a:p>
            <a:r>
              <a:rPr lang="en-US" sz="2400">
                <a:ea typeface="+mn-lt"/>
                <a:cs typeface="+mn-lt"/>
              </a:rPr>
              <a:t>Operates 24 hours a day, 7 days a week </a:t>
            </a:r>
            <a:endParaRPr lang="en-US" sz="2400"/>
          </a:p>
          <a:p>
            <a:r>
              <a:rPr lang="en-US" sz="2400">
                <a:ea typeface="+mn-lt"/>
                <a:cs typeface="+mn-lt"/>
              </a:rPr>
              <a:t>Designed to serve students with busy or irregular schedules </a:t>
            </a:r>
            <a:endParaRPr lang="en-US" sz="2400"/>
          </a:p>
          <a:p>
            <a:r>
              <a:rPr lang="en-US" sz="2400">
                <a:ea typeface="+mn-lt"/>
                <a:cs typeface="+mn-lt"/>
              </a:rPr>
              <a:t>Located conveniently across Rutgers campus</a:t>
            </a:r>
            <a:endParaRPr lang="en-US" sz="2400"/>
          </a:p>
          <a:p>
            <a:endParaRPr lang="en-US" sz="2400">
              <a:ea typeface="+mn-lt"/>
              <a:cs typeface="+mn-lt"/>
            </a:endParaRPr>
          </a:p>
        </p:txBody>
      </p:sp>
      <p:pic>
        <p:nvPicPr>
          <p:cNvPr id="5" name="Picture 4" descr="Dining : Dining Locations">
            <a:extLst>
              <a:ext uri="{FF2B5EF4-FFF2-40B4-BE49-F238E27FC236}">
                <a16:creationId xmlns:a16="http://schemas.microsoft.com/office/drawing/2014/main" id="{870FA74C-94E2-88B2-5DD5-6225F741000D}"/>
              </a:ext>
            </a:extLst>
          </p:cNvPr>
          <p:cNvPicPr>
            <a:picLocks noChangeAspect="1"/>
          </p:cNvPicPr>
          <p:nvPr/>
        </p:nvPicPr>
        <p:blipFill>
          <a:blip r:embed="rId2"/>
          <a:srcRect l="10700" r="26610" b="1"/>
          <a:stretch>
            <a:fillRect/>
          </a:stretch>
        </p:blipFill>
        <p:spPr>
          <a:xfrm>
            <a:off x="7646838" y="1980775"/>
            <a:ext cx="3748858" cy="3632824"/>
          </a:xfrm>
          <a:prstGeom prst="rect">
            <a:avLst/>
          </a:prstGeom>
        </p:spPr>
      </p:pic>
      <p:sp>
        <p:nvSpPr>
          <p:cNvPr id="20" name="Rectangle 19">
            <a:extLst>
              <a:ext uri="{FF2B5EF4-FFF2-40B4-BE49-F238E27FC236}">
                <a16:creationId xmlns:a16="http://schemas.microsoft.com/office/drawing/2014/main" id="{30563404-8DA1-408B-B56C-EF5733DAA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31CC731-E2EC-4834-B848-101CC2756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9000">
                <a:schemeClr val="tx2">
                  <a:lumMod val="50000"/>
                  <a:lumOff val="50000"/>
                  <a:alpha val="3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3" descr="A red circle with white text and a fork and spoon&#10;&#10;AI-generated content may be incorrect.">
            <a:extLst>
              <a:ext uri="{FF2B5EF4-FFF2-40B4-BE49-F238E27FC236}">
                <a16:creationId xmlns:a16="http://schemas.microsoft.com/office/drawing/2014/main" id="{0D03D910-F9DD-379C-2C46-0A8066329394}"/>
              </a:ext>
            </a:extLst>
          </p:cNvPr>
          <p:cNvPicPr>
            <a:picLocks noChangeAspect="1"/>
          </p:cNvPicPr>
          <p:nvPr/>
        </p:nvPicPr>
        <p:blipFill>
          <a:blip r:embed="rId3"/>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1302337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6193-3CEA-0847-4A97-9C7E117C03F1}"/>
              </a:ext>
            </a:extLst>
          </p:cNvPr>
          <p:cNvSpPr>
            <a:spLocks noGrp="1"/>
          </p:cNvSpPr>
          <p:nvPr>
            <p:ph type="title"/>
          </p:nvPr>
        </p:nvSpPr>
        <p:spPr>
          <a:xfrm>
            <a:off x="331190" y="673988"/>
            <a:ext cx="10241280" cy="699295"/>
          </a:xfrm>
        </p:spPr>
        <p:txBody>
          <a:bodyPr/>
          <a:lstStyle/>
          <a:p>
            <a:r>
              <a:rPr lang="en-US">
                <a:ea typeface="+mj-lt"/>
                <a:cs typeface="+mj-lt"/>
              </a:rPr>
              <a:t>Customer Value Proposition</a:t>
            </a:r>
            <a:endParaRPr lang="en-US"/>
          </a:p>
        </p:txBody>
      </p:sp>
      <p:sp>
        <p:nvSpPr>
          <p:cNvPr id="3" name="Content Placeholder 2">
            <a:extLst>
              <a:ext uri="{FF2B5EF4-FFF2-40B4-BE49-F238E27FC236}">
                <a16:creationId xmlns:a16="http://schemas.microsoft.com/office/drawing/2014/main" id="{9AAB81E0-A075-A118-3DE6-4B9E545A3D31}"/>
              </a:ext>
            </a:extLst>
          </p:cNvPr>
          <p:cNvSpPr>
            <a:spLocks noGrp="1"/>
          </p:cNvSpPr>
          <p:nvPr>
            <p:ph idx="1"/>
          </p:nvPr>
        </p:nvSpPr>
        <p:spPr>
          <a:xfrm>
            <a:off x="789921" y="1902860"/>
            <a:ext cx="10764791" cy="4064054"/>
          </a:xfrm>
        </p:spPr>
        <p:txBody>
          <a:bodyPr vert="horz" lIns="0" tIns="0" rIns="0" bIns="0" rtlCol="0" anchor="t">
            <a:normAutofit/>
          </a:bodyPr>
          <a:lstStyle/>
          <a:p>
            <a:r>
              <a:rPr lang="en-US" sz="2400">
                <a:ea typeface="+mn-lt"/>
                <a:cs typeface="+mn-lt"/>
              </a:rPr>
              <a:t>Affordable, student-friendly pricing compared to delivery apps </a:t>
            </a:r>
            <a:endParaRPr lang="en-US" sz="2400"/>
          </a:p>
          <a:p>
            <a:r>
              <a:rPr lang="en-US" sz="2400">
                <a:ea typeface="+mn-lt"/>
                <a:cs typeface="+mn-lt"/>
              </a:rPr>
              <a:t>24/7 availability to accommodate all student schedules </a:t>
            </a:r>
            <a:endParaRPr lang="en-US" sz="2400"/>
          </a:p>
          <a:p>
            <a:r>
              <a:rPr lang="en-US" sz="2400">
                <a:ea typeface="+mn-lt"/>
                <a:cs typeface="+mn-lt"/>
              </a:rPr>
              <a:t>Convenient on-campus locations (no transportation needed) </a:t>
            </a:r>
            <a:endParaRPr lang="en-US" sz="2400"/>
          </a:p>
          <a:p>
            <a:r>
              <a:rPr lang="en-US" sz="2400">
                <a:ea typeface="+mn-lt"/>
                <a:cs typeface="+mn-lt"/>
              </a:rPr>
              <a:t>Faster service than dining halls and off-campus options </a:t>
            </a:r>
            <a:endParaRPr lang="en-US" sz="2400"/>
          </a:p>
          <a:p>
            <a:r>
              <a:rPr lang="en-US" sz="2400">
                <a:ea typeface="+mn-lt"/>
                <a:cs typeface="+mn-lt"/>
              </a:rPr>
              <a:t>Reliable access to meals, snacks, and essentials anytime</a:t>
            </a:r>
            <a:endParaRPr lang="en-US" sz="2400"/>
          </a:p>
          <a:p>
            <a:endParaRPr lang="en-US"/>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7412E3F2-73BF-FFBC-C490-6661BAD4FC87}"/>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1276562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8800C-C400-A7EE-D44A-D8E91BC00BA9}"/>
              </a:ext>
            </a:extLst>
          </p:cNvPr>
          <p:cNvSpPr>
            <a:spLocks noGrp="1"/>
          </p:cNvSpPr>
          <p:nvPr>
            <p:ph type="title"/>
          </p:nvPr>
        </p:nvSpPr>
        <p:spPr>
          <a:xfrm>
            <a:off x="271320" y="121080"/>
            <a:ext cx="10310288" cy="745830"/>
          </a:xfrm>
        </p:spPr>
        <p:txBody>
          <a:bodyPr>
            <a:normAutofit/>
          </a:bodyPr>
          <a:lstStyle/>
          <a:p>
            <a:r>
              <a:rPr lang="en-US"/>
              <a:t> Vision, Mission, Core values</a:t>
            </a:r>
          </a:p>
        </p:txBody>
      </p:sp>
      <p:sp>
        <p:nvSpPr>
          <p:cNvPr id="3" name="Content Placeholder 2">
            <a:extLst>
              <a:ext uri="{FF2B5EF4-FFF2-40B4-BE49-F238E27FC236}">
                <a16:creationId xmlns:a16="http://schemas.microsoft.com/office/drawing/2014/main" id="{9508CC87-B171-C300-1533-9100E6F66077}"/>
              </a:ext>
            </a:extLst>
          </p:cNvPr>
          <p:cNvSpPr>
            <a:spLocks noGrp="1"/>
          </p:cNvSpPr>
          <p:nvPr>
            <p:ph idx="1"/>
          </p:nvPr>
        </p:nvSpPr>
        <p:spPr>
          <a:xfrm>
            <a:off x="273771" y="898538"/>
            <a:ext cx="11826045" cy="5210401"/>
          </a:xfrm>
        </p:spPr>
        <p:txBody>
          <a:bodyPr vert="horz" lIns="0" tIns="0" rIns="0" bIns="0" rtlCol="0" anchor="t">
            <a:noAutofit/>
          </a:bodyPr>
          <a:lstStyle/>
          <a:p>
            <a:pPr marL="0" indent="0">
              <a:buNone/>
            </a:pPr>
            <a:r>
              <a:rPr lang="en-US" sz="2100" b="1">
                <a:ea typeface="+mn-lt"/>
                <a:cs typeface="+mn-lt"/>
              </a:rPr>
              <a:t>Vision Statement: </a:t>
            </a:r>
            <a:r>
              <a:rPr lang="en-US" sz="2100">
                <a:ea typeface="+mn-lt"/>
                <a:cs typeface="+mn-lt"/>
              </a:rPr>
              <a:t>To become the most accessible and trusted food service for students on college campuses </a:t>
            </a:r>
            <a:endParaRPr lang="en-US" sz="2100"/>
          </a:p>
          <a:p>
            <a:pPr marL="0" indent="0">
              <a:buNone/>
            </a:pPr>
            <a:r>
              <a:rPr lang="en-US" sz="2100" b="1">
                <a:ea typeface="+mn-lt"/>
                <a:cs typeface="+mn-lt"/>
              </a:rPr>
              <a:t>Mission Statement: </a:t>
            </a:r>
            <a:r>
              <a:rPr lang="en-US" sz="2100">
                <a:ea typeface="+mn-lt"/>
                <a:cs typeface="+mn-lt"/>
              </a:rPr>
              <a:t>RU 24/7 Food Hub serves Rutgers students by providing affordable meals, snacks, and essentials around the clock through convenient on-campus locations </a:t>
            </a:r>
            <a:endParaRPr lang="en-US" sz="2100"/>
          </a:p>
          <a:p>
            <a:pPr marL="0" indent="0">
              <a:buNone/>
            </a:pPr>
            <a:r>
              <a:rPr lang="en-US" sz="2100" b="1">
                <a:ea typeface="+mn-lt"/>
                <a:cs typeface="+mn-lt"/>
              </a:rPr>
              <a:t>Core Values:</a:t>
            </a:r>
            <a:endParaRPr lang="en-US" sz="2100"/>
          </a:p>
          <a:p>
            <a:r>
              <a:rPr lang="en-US" sz="2100">
                <a:ea typeface="+mn-lt"/>
                <a:cs typeface="+mn-lt"/>
              </a:rPr>
              <a:t>Accessibility </a:t>
            </a:r>
          </a:p>
          <a:p>
            <a:r>
              <a:rPr lang="en-US" sz="2100">
                <a:ea typeface="+mn-lt"/>
                <a:cs typeface="+mn-lt"/>
              </a:rPr>
              <a:t>Affordability </a:t>
            </a:r>
            <a:endParaRPr lang="en-US" sz="2100"/>
          </a:p>
          <a:p>
            <a:r>
              <a:rPr lang="en-US" sz="2100">
                <a:ea typeface="+mn-lt"/>
                <a:cs typeface="+mn-lt"/>
              </a:rPr>
              <a:t>Reliability </a:t>
            </a:r>
            <a:endParaRPr lang="en-US" sz="2100"/>
          </a:p>
          <a:p>
            <a:r>
              <a:rPr lang="en-US" sz="2100">
                <a:ea typeface="+mn-lt"/>
                <a:cs typeface="+mn-lt"/>
              </a:rPr>
              <a:t>Community </a:t>
            </a:r>
            <a:endParaRPr lang="en-US" sz="2100"/>
          </a:p>
          <a:p>
            <a:r>
              <a:rPr lang="en-US" sz="2100">
                <a:ea typeface="+mn-lt"/>
                <a:cs typeface="+mn-lt"/>
              </a:rPr>
              <a:t>Safety </a:t>
            </a:r>
            <a:endParaRPr lang="en-US" sz="2100"/>
          </a:p>
          <a:p>
            <a:r>
              <a:rPr lang="en-US" sz="2100">
                <a:ea typeface="+mn-lt"/>
                <a:cs typeface="+mn-lt"/>
              </a:rPr>
              <a:t>Sustainability</a:t>
            </a:r>
            <a:endParaRPr lang="en-US" sz="2100"/>
          </a:p>
          <a:p>
            <a:endParaRPr lang="en-US"/>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7EFFEA54-1F4A-2DC6-C38B-3B4254F03F4E}"/>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233185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D802-CF35-29AE-0F42-0F9C24AE6634}"/>
              </a:ext>
            </a:extLst>
          </p:cNvPr>
          <p:cNvSpPr>
            <a:spLocks noGrp="1"/>
          </p:cNvSpPr>
          <p:nvPr>
            <p:ph type="title"/>
          </p:nvPr>
        </p:nvSpPr>
        <p:spPr>
          <a:xfrm>
            <a:off x="153334" y="150523"/>
            <a:ext cx="10811325" cy="792365"/>
          </a:xfrm>
        </p:spPr>
        <p:txBody>
          <a:bodyPr>
            <a:normAutofit fontScale="90000"/>
          </a:bodyPr>
          <a:lstStyle/>
          <a:p>
            <a:r>
              <a:rPr lang="en-US">
                <a:ea typeface="+mj-lt"/>
                <a:cs typeface="+mj-lt"/>
              </a:rPr>
              <a:t>Financial &amp; Strategic Objectives</a:t>
            </a:r>
            <a:endParaRPr lang="en-US"/>
          </a:p>
        </p:txBody>
      </p:sp>
      <p:sp>
        <p:nvSpPr>
          <p:cNvPr id="3" name="Content Placeholder 2">
            <a:extLst>
              <a:ext uri="{FF2B5EF4-FFF2-40B4-BE49-F238E27FC236}">
                <a16:creationId xmlns:a16="http://schemas.microsoft.com/office/drawing/2014/main" id="{24E34D00-C7BC-91F0-43AB-FD3DA550B0AB}"/>
              </a:ext>
            </a:extLst>
          </p:cNvPr>
          <p:cNvSpPr>
            <a:spLocks noGrp="1"/>
          </p:cNvSpPr>
          <p:nvPr>
            <p:ph idx="1"/>
          </p:nvPr>
        </p:nvSpPr>
        <p:spPr>
          <a:xfrm>
            <a:off x="580517" y="1113099"/>
            <a:ext cx="11043908" cy="4958517"/>
          </a:xfrm>
        </p:spPr>
        <p:txBody>
          <a:bodyPr vert="horz" lIns="0" tIns="0" rIns="0" bIns="0" rtlCol="0" anchor="t">
            <a:noAutofit/>
          </a:bodyPr>
          <a:lstStyle/>
          <a:p>
            <a:pPr marL="0" indent="0">
              <a:buNone/>
            </a:pPr>
            <a:r>
              <a:rPr lang="en-US" sz="2400" b="1">
                <a:ea typeface="+mn-lt"/>
                <a:cs typeface="+mn-lt"/>
              </a:rPr>
              <a:t>Financial Objectives:</a:t>
            </a:r>
            <a:endParaRPr lang="en-US" sz="2400"/>
          </a:p>
          <a:p>
            <a:r>
              <a:rPr lang="en-US" sz="2400">
                <a:ea typeface="+mn-lt"/>
                <a:cs typeface="+mn-lt"/>
              </a:rPr>
              <a:t>Achieve steady revenue growth through high student demand </a:t>
            </a:r>
            <a:endParaRPr lang="en-US" sz="2400"/>
          </a:p>
          <a:p>
            <a:r>
              <a:rPr lang="en-US" sz="2400">
                <a:ea typeface="+mn-lt"/>
                <a:cs typeface="+mn-lt"/>
              </a:rPr>
              <a:t>Maintain low operating costs to keep prices affordable </a:t>
            </a:r>
            <a:endParaRPr lang="en-US" sz="2400"/>
          </a:p>
          <a:p>
            <a:r>
              <a:rPr lang="en-US" sz="2400">
                <a:ea typeface="+mn-lt"/>
                <a:cs typeface="+mn-lt"/>
              </a:rPr>
              <a:t>Reach profitability within first year of operation </a:t>
            </a:r>
            <a:endParaRPr lang="en-US" sz="2400"/>
          </a:p>
          <a:p>
            <a:pPr marL="0" indent="0">
              <a:buNone/>
            </a:pPr>
            <a:r>
              <a:rPr lang="en-US" sz="2400" b="1">
                <a:ea typeface="+mn-lt"/>
                <a:cs typeface="+mn-lt"/>
              </a:rPr>
              <a:t>Strategic Objectives:</a:t>
            </a:r>
            <a:endParaRPr lang="en-US" sz="2400"/>
          </a:p>
          <a:p>
            <a:r>
              <a:rPr lang="en-US" sz="2400">
                <a:ea typeface="+mn-lt"/>
                <a:cs typeface="+mn-lt"/>
              </a:rPr>
              <a:t>Expand to multiple Rutgers campuses </a:t>
            </a:r>
            <a:endParaRPr lang="en-US" sz="2400"/>
          </a:p>
          <a:p>
            <a:r>
              <a:rPr lang="en-US" sz="2400">
                <a:ea typeface="+mn-lt"/>
                <a:cs typeface="+mn-lt"/>
              </a:rPr>
              <a:t>Build strong brand recognition among students </a:t>
            </a:r>
            <a:endParaRPr lang="en-US" sz="2400"/>
          </a:p>
          <a:p>
            <a:r>
              <a:rPr lang="en-US" sz="2400">
                <a:ea typeface="+mn-lt"/>
                <a:cs typeface="+mn-lt"/>
              </a:rPr>
              <a:t>Increase customer loyalty and repeat usage </a:t>
            </a:r>
            <a:endParaRPr lang="en-US" sz="2400"/>
          </a:p>
          <a:p>
            <a:r>
              <a:rPr lang="en-US" sz="2400">
                <a:ea typeface="+mn-lt"/>
                <a:cs typeface="+mn-lt"/>
              </a:rPr>
              <a:t>Leverage technology for faster service (mobile ordering, kiosks) </a:t>
            </a:r>
            <a:endParaRPr lang="en-US" sz="2400"/>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7F18EAB0-7484-29DE-3479-61DFFABE7D09}"/>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1276003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43B74-CCEA-0DCB-D1CE-61334090480A}"/>
              </a:ext>
            </a:extLst>
          </p:cNvPr>
          <p:cNvSpPr>
            <a:spLocks noGrp="1"/>
          </p:cNvSpPr>
          <p:nvPr>
            <p:ph type="title"/>
          </p:nvPr>
        </p:nvSpPr>
        <p:spPr>
          <a:xfrm>
            <a:off x="336212" y="353452"/>
            <a:ext cx="10753155" cy="699295"/>
          </a:xfrm>
        </p:spPr>
        <p:txBody>
          <a:bodyPr>
            <a:normAutofit fontScale="90000"/>
          </a:bodyPr>
          <a:lstStyle/>
          <a:p>
            <a:r>
              <a:rPr lang="en-US">
                <a:ea typeface="+mj-lt"/>
                <a:cs typeface="+mj-lt"/>
              </a:rPr>
              <a:t>Corporate Social Responsibility</a:t>
            </a:r>
            <a:endParaRPr lang="en-US"/>
          </a:p>
        </p:txBody>
      </p:sp>
      <p:sp>
        <p:nvSpPr>
          <p:cNvPr id="3" name="Content Placeholder 2">
            <a:extLst>
              <a:ext uri="{FF2B5EF4-FFF2-40B4-BE49-F238E27FC236}">
                <a16:creationId xmlns:a16="http://schemas.microsoft.com/office/drawing/2014/main" id="{1D96C325-7CF7-A0B3-0C16-C149995FC999}"/>
              </a:ext>
            </a:extLst>
          </p:cNvPr>
          <p:cNvSpPr>
            <a:spLocks noGrp="1"/>
          </p:cNvSpPr>
          <p:nvPr>
            <p:ph idx="1"/>
          </p:nvPr>
        </p:nvSpPr>
        <p:spPr>
          <a:xfrm>
            <a:off x="499080" y="1274647"/>
            <a:ext cx="11195235" cy="4616648"/>
          </a:xfrm>
        </p:spPr>
        <p:txBody>
          <a:bodyPr vert="horz" lIns="0" tIns="0" rIns="0" bIns="0" rtlCol="0" anchor="t">
            <a:noAutofit/>
          </a:bodyPr>
          <a:lstStyle/>
          <a:p>
            <a:r>
              <a:rPr lang="en-US" sz="2400">
                <a:ea typeface="+mn-lt"/>
                <a:cs typeface="+mn-lt"/>
              </a:rPr>
              <a:t>Offer affordable food options to support student well-being </a:t>
            </a:r>
            <a:endParaRPr lang="en-US" sz="2400"/>
          </a:p>
          <a:p>
            <a:r>
              <a:rPr lang="en-US" sz="2400">
                <a:ea typeface="+mn-lt"/>
                <a:cs typeface="+mn-lt"/>
              </a:rPr>
              <a:t>Reduce food waste through efficient inventory management </a:t>
            </a:r>
            <a:endParaRPr lang="en-US" sz="2400"/>
          </a:p>
          <a:p>
            <a:r>
              <a:rPr lang="en-US" sz="2400">
                <a:ea typeface="+mn-lt"/>
                <a:cs typeface="+mn-lt"/>
              </a:rPr>
              <a:t>Use eco-friendly packaging to minimize environmental impact </a:t>
            </a:r>
            <a:endParaRPr lang="en-US" sz="2400"/>
          </a:p>
          <a:p>
            <a:r>
              <a:rPr lang="en-US" sz="2400">
                <a:ea typeface="+mn-lt"/>
                <a:cs typeface="+mn-lt"/>
              </a:rPr>
              <a:t>Partner with local suppliers when possible </a:t>
            </a:r>
            <a:endParaRPr lang="en-US" sz="2400"/>
          </a:p>
          <a:p>
            <a:r>
              <a:rPr lang="en-US" sz="2400">
                <a:ea typeface="+mn-lt"/>
                <a:cs typeface="+mn-lt"/>
              </a:rPr>
              <a:t>Create student employment opportunities </a:t>
            </a:r>
            <a:endParaRPr lang="en-US" sz="2400"/>
          </a:p>
          <a:p>
            <a:r>
              <a:rPr lang="en-US" sz="2400" b="1">
                <a:ea typeface="+mn-lt"/>
                <a:cs typeface="+mn-lt"/>
              </a:rPr>
              <a:t>Rationale:</a:t>
            </a:r>
            <a:endParaRPr lang="en-US" sz="2400"/>
          </a:p>
          <a:p>
            <a:pPr lvl="1">
              <a:buFont typeface="Courier New" panose="020B0604020202020204" pitchFamily="34" charset="0"/>
              <a:buChar char="o"/>
            </a:pPr>
            <a:r>
              <a:rPr lang="en-US" sz="2400">
                <a:ea typeface="+mn-lt"/>
                <a:cs typeface="+mn-lt"/>
              </a:rPr>
              <a:t>Supports the Rutgers community </a:t>
            </a:r>
            <a:endParaRPr lang="en-US" sz="2400"/>
          </a:p>
          <a:p>
            <a:pPr lvl="1">
              <a:buFont typeface="Courier New" panose="020B0604020202020204" pitchFamily="34" charset="0"/>
              <a:buChar char="o"/>
            </a:pPr>
            <a:r>
              <a:rPr lang="en-US" sz="2400">
                <a:ea typeface="+mn-lt"/>
                <a:cs typeface="+mn-lt"/>
              </a:rPr>
              <a:t>Enhances brand reputation </a:t>
            </a:r>
            <a:endParaRPr lang="en-US" sz="2400"/>
          </a:p>
          <a:p>
            <a:pPr lvl="1">
              <a:buFont typeface="Courier New" panose="020B0604020202020204" pitchFamily="34" charset="0"/>
              <a:buChar char="o"/>
            </a:pPr>
            <a:r>
              <a:rPr lang="en-US" sz="2400">
                <a:ea typeface="+mn-lt"/>
                <a:cs typeface="+mn-lt"/>
              </a:rPr>
              <a:t>Aligns with sustainability and ethical business practices </a:t>
            </a:r>
            <a:endParaRPr lang="en-US" sz="2400"/>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B581B267-FCA8-6FE0-8D19-394FA5008161}"/>
              </a:ext>
            </a:extLst>
          </p:cNvPr>
          <p:cNvPicPr>
            <a:picLocks noChangeAspect="1"/>
          </p:cNvPicPr>
          <p:nvPr/>
        </p:nvPicPr>
        <p:blipFill>
          <a:blip r:embed="rId2"/>
          <a:stretch>
            <a:fillRect/>
          </a:stretch>
        </p:blipFill>
        <p:spPr>
          <a:xfrm>
            <a:off x="10874893" y="-180782"/>
            <a:ext cx="1510595" cy="1488402"/>
          </a:xfrm>
          <a:prstGeom prst="rect">
            <a:avLst/>
          </a:prstGeom>
        </p:spPr>
      </p:pic>
      <p:pic>
        <p:nvPicPr>
          <p:cNvPr id="4" name="Picture 3" descr="image.png">
            <a:extLst>
              <a:ext uri="{FF2B5EF4-FFF2-40B4-BE49-F238E27FC236}">
                <a16:creationId xmlns:a16="http://schemas.microsoft.com/office/drawing/2014/main" id="{D1056B23-31FF-E44F-041C-435FC6328490}"/>
              </a:ext>
            </a:extLst>
          </p:cNvPr>
          <p:cNvPicPr>
            <a:picLocks noChangeAspect="1"/>
          </p:cNvPicPr>
          <p:nvPr/>
        </p:nvPicPr>
        <p:blipFill>
          <a:blip r:embed="rId3"/>
          <a:stretch>
            <a:fillRect/>
          </a:stretch>
        </p:blipFill>
        <p:spPr>
          <a:xfrm>
            <a:off x="9912839" y="1715722"/>
            <a:ext cx="1080476" cy="925634"/>
          </a:xfrm>
          <a:prstGeom prst="rect">
            <a:avLst/>
          </a:prstGeom>
        </p:spPr>
      </p:pic>
      <p:pic>
        <p:nvPicPr>
          <p:cNvPr id="5" name="Picture 4" descr="image.png">
            <a:extLst>
              <a:ext uri="{FF2B5EF4-FFF2-40B4-BE49-F238E27FC236}">
                <a16:creationId xmlns:a16="http://schemas.microsoft.com/office/drawing/2014/main" id="{6D475282-CC56-52E5-147A-D9ACF3A621FC}"/>
              </a:ext>
            </a:extLst>
          </p:cNvPr>
          <p:cNvPicPr>
            <a:picLocks noChangeAspect="1"/>
          </p:cNvPicPr>
          <p:nvPr/>
        </p:nvPicPr>
        <p:blipFill>
          <a:blip r:embed="rId4"/>
          <a:stretch>
            <a:fillRect/>
          </a:stretch>
        </p:blipFill>
        <p:spPr>
          <a:xfrm>
            <a:off x="9960219" y="4812568"/>
            <a:ext cx="975946" cy="1091711"/>
          </a:xfrm>
          <a:prstGeom prst="rect">
            <a:avLst/>
          </a:prstGeom>
        </p:spPr>
      </p:pic>
      <p:pic>
        <p:nvPicPr>
          <p:cNvPr id="7" name="Picture 6" descr="image.png">
            <a:extLst>
              <a:ext uri="{FF2B5EF4-FFF2-40B4-BE49-F238E27FC236}">
                <a16:creationId xmlns:a16="http://schemas.microsoft.com/office/drawing/2014/main" id="{AE669078-4B70-3E8E-144B-07EF53DB8EFF}"/>
              </a:ext>
            </a:extLst>
          </p:cNvPr>
          <p:cNvPicPr>
            <a:picLocks noChangeAspect="1"/>
          </p:cNvPicPr>
          <p:nvPr/>
        </p:nvPicPr>
        <p:blipFill>
          <a:blip r:embed="rId5"/>
          <a:stretch>
            <a:fillRect/>
          </a:stretch>
        </p:blipFill>
        <p:spPr>
          <a:xfrm>
            <a:off x="9980490" y="3269029"/>
            <a:ext cx="954941" cy="867019"/>
          </a:xfrm>
          <a:prstGeom prst="rect">
            <a:avLst/>
          </a:prstGeom>
        </p:spPr>
      </p:pic>
    </p:spTree>
    <p:extLst>
      <p:ext uri="{BB962C8B-B14F-4D97-AF65-F5344CB8AC3E}">
        <p14:creationId xmlns:p14="http://schemas.microsoft.com/office/powerpoint/2010/main" val="4201998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B1514A-91C0-F195-B315-EFAE26275DC3}"/>
              </a:ext>
            </a:extLst>
          </p:cNvPr>
          <p:cNvSpPr>
            <a:spLocks noGrp="1"/>
          </p:cNvSpPr>
          <p:nvPr>
            <p:ph type="title"/>
          </p:nvPr>
        </p:nvSpPr>
        <p:spPr>
          <a:xfrm>
            <a:off x="287205" y="786273"/>
            <a:ext cx="8109241" cy="803665"/>
          </a:xfrm>
        </p:spPr>
        <p:txBody>
          <a:bodyPr>
            <a:normAutofit/>
          </a:bodyPr>
          <a:lstStyle/>
          <a:p>
            <a:r>
              <a:rPr lang="en-US" sz="3700"/>
              <a:t>New product/service</a:t>
            </a:r>
          </a:p>
        </p:txBody>
      </p:sp>
      <p:sp>
        <p:nvSpPr>
          <p:cNvPr id="3" name="Content Placeholder 2">
            <a:extLst>
              <a:ext uri="{FF2B5EF4-FFF2-40B4-BE49-F238E27FC236}">
                <a16:creationId xmlns:a16="http://schemas.microsoft.com/office/drawing/2014/main" id="{F24E429A-9ABA-4CFD-B19B-C79B9BA3C0E5}"/>
              </a:ext>
            </a:extLst>
          </p:cNvPr>
          <p:cNvSpPr>
            <a:spLocks noGrp="1"/>
          </p:cNvSpPr>
          <p:nvPr>
            <p:ph idx="1"/>
          </p:nvPr>
        </p:nvSpPr>
        <p:spPr>
          <a:xfrm>
            <a:off x="543287" y="1909349"/>
            <a:ext cx="6766372" cy="4034251"/>
          </a:xfrm>
        </p:spPr>
        <p:txBody>
          <a:bodyPr vert="horz" lIns="0" tIns="0" rIns="0" bIns="0" rtlCol="0" anchor="t">
            <a:normAutofit/>
          </a:bodyPr>
          <a:lstStyle/>
          <a:p>
            <a:pPr>
              <a:lnSpc>
                <a:spcPct val="110000"/>
              </a:lnSpc>
            </a:pPr>
            <a:r>
              <a:rPr lang="en-US" sz="2200">
                <a:ea typeface="+mn-lt"/>
                <a:cs typeface="+mn-lt"/>
              </a:rPr>
              <a:t>Late-night meal combos (budget-friendly bundles) </a:t>
            </a:r>
          </a:p>
          <a:p>
            <a:pPr>
              <a:lnSpc>
                <a:spcPct val="110000"/>
              </a:lnSpc>
            </a:pPr>
            <a:r>
              <a:rPr lang="en-US" sz="2200">
                <a:ea typeface="+mn-lt"/>
                <a:cs typeface="+mn-lt"/>
              </a:rPr>
              <a:t>Grab-and-go snack stations for quick access </a:t>
            </a:r>
          </a:p>
          <a:p>
            <a:pPr>
              <a:lnSpc>
                <a:spcPct val="110000"/>
              </a:lnSpc>
            </a:pPr>
            <a:r>
              <a:rPr lang="en-US" sz="2200">
                <a:ea typeface="+mn-lt"/>
                <a:cs typeface="+mn-lt"/>
              </a:rPr>
              <a:t>Essential items (drinks, hygiene products, school supplies) </a:t>
            </a:r>
          </a:p>
          <a:p>
            <a:pPr>
              <a:lnSpc>
                <a:spcPct val="110000"/>
              </a:lnSpc>
            </a:pPr>
            <a:r>
              <a:rPr lang="en-US" sz="2200">
                <a:ea typeface="+mn-lt"/>
                <a:cs typeface="+mn-lt"/>
              </a:rPr>
              <a:t>Mobile ordering system for faster pickup </a:t>
            </a:r>
          </a:p>
          <a:p>
            <a:pPr>
              <a:lnSpc>
                <a:spcPct val="110000"/>
              </a:lnSpc>
            </a:pPr>
            <a:r>
              <a:rPr lang="en-US" sz="2200" b="1">
                <a:ea typeface="+mn-lt"/>
                <a:cs typeface="+mn-lt"/>
              </a:rPr>
              <a:t>Value:</a:t>
            </a:r>
            <a:endParaRPr lang="en-US" sz="2200">
              <a:ea typeface="+mn-lt"/>
              <a:cs typeface="+mn-lt"/>
            </a:endParaRPr>
          </a:p>
          <a:p>
            <a:pPr lvl="1">
              <a:lnSpc>
                <a:spcPct val="110000"/>
              </a:lnSpc>
              <a:buFont typeface="Courier New" panose="020B0604020202020204" pitchFamily="34" charset="0"/>
              <a:buChar char="o"/>
            </a:pPr>
            <a:r>
              <a:rPr lang="en-US" sz="2200">
                <a:ea typeface="+mn-lt"/>
                <a:cs typeface="+mn-lt"/>
              </a:rPr>
              <a:t>Saves time for students </a:t>
            </a:r>
          </a:p>
          <a:p>
            <a:pPr lvl="1">
              <a:lnSpc>
                <a:spcPct val="110000"/>
              </a:lnSpc>
              <a:buFont typeface="Courier New" panose="020B0604020202020204" pitchFamily="34" charset="0"/>
              <a:buChar char="o"/>
            </a:pPr>
            <a:r>
              <a:rPr lang="en-US" sz="2200">
                <a:ea typeface="+mn-lt"/>
                <a:cs typeface="+mn-lt"/>
              </a:rPr>
              <a:t>Increases convenience </a:t>
            </a:r>
          </a:p>
          <a:p>
            <a:pPr lvl="1">
              <a:lnSpc>
                <a:spcPct val="110000"/>
              </a:lnSpc>
              <a:buFont typeface="Courier New" panose="020B0604020202020204" pitchFamily="34" charset="0"/>
              <a:buChar char="o"/>
            </a:pPr>
            <a:r>
              <a:rPr lang="en-US" sz="2200">
                <a:ea typeface="+mn-lt"/>
                <a:cs typeface="+mn-lt"/>
              </a:rPr>
              <a:t>Encourages repeat purchases</a:t>
            </a:r>
          </a:p>
          <a:p>
            <a:pPr>
              <a:lnSpc>
                <a:spcPct val="110000"/>
              </a:lnSpc>
            </a:pPr>
            <a:endParaRPr lang="en-US" sz="1800"/>
          </a:p>
        </p:txBody>
      </p:sp>
      <p:sp>
        <p:nvSpPr>
          <p:cNvPr id="11" name="Rectangle 10">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chemeClr val="accent5"/>
              </a:gs>
              <a:gs pos="100000">
                <a:schemeClr val="accent2">
                  <a:lumMod val="60000"/>
                  <a:lumOff val="40000"/>
                  <a:alpha val="59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chemeClr val="accent6">
                  <a:lumMod val="75000"/>
                  <a:alpha val="61000"/>
                </a:schemeClr>
              </a:gs>
              <a:gs pos="99000">
                <a:schemeClr val="accent6">
                  <a:alpha val="87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b and Go Snack Box Ideas - Melissa's Healthy Kitchen">
            <a:extLst>
              <a:ext uri="{FF2B5EF4-FFF2-40B4-BE49-F238E27FC236}">
                <a16:creationId xmlns:a16="http://schemas.microsoft.com/office/drawing/2014/main" id="{58BD1F5F-A29E-F8CE-2097-E8EE30F7FEC5}"/>
              </a:ext>
            </a:extLst>
          </p:cNvPr>
          <p:cNvPicPr>
            <a:picLocks noChangeAspect="1"/>
          </p:cNvPicPr>
          <p:nvPr/>
        </p:nvPicPr>
        <p:blipFill>
          <a:blip r:embed="rId2"/>
          <a:srcRect l="7860" r="7457" b="3"/>
          <a:stretch>
            <a:fillRect/>
          </a:stretch>
        </p:blipFill>
        <p:spPr>
          <a:xfrm>
            <a:off x="8115300" y="-12515"/>
            <a:ext cx="4076700" cy="6418631"/>
          </a:xfrm>
          <a:prstGeom prst="rect">
            <a:avLst/>
          </a:prstGeom>
        </p:spPr>
      </p:pic>
      <p:pic>
        <p:nvPicPr>
          <p:cNvPr id="7" name="Content Placeholder 3" descr="A red circle with white text and a fork and spoon&#10;&#10;AI-generated content may be incorrect.">
            <a:extLst>
              <a:ext uri="{FF2B5EF4-FFF2-40B4-BE49-F238E27FC236}">
                <a16:creationId xmlns:a16="http://schemas.microsoft.com/office/drawing/2014/main" id="{57994D77-467F-01AE-2276-EBA4823AE18F}"/>
              </a:ext>
            </a:extLst>
          </p:cNvPr>
          <p:cNvPicPr>
            <a:picLocks noChangeAspect="1"/>
          </p:cNvPicPr>
          <p:nvPr/>
        </p:nvPicPr>
        <p:blipFill>
          <a:blip r:embed="rId3"/>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4143965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8BE24-64E6-9F93-77B8-BF48E4F47A40}"/>
              </a:ext>
            </a:extLst>
          </p:cNvPr>
          <p:cNvSpPr>
            <a:spLocks noGrp="1"/>
          </p:cNvSpPr>
          <p:nvPr>
            <p:ph type="title"/>
          </p:nvPr>
        </p:nvSpPr>
        <p:spPr>
          <a:xfrm>
            <a:off x="150558" y="335693"/>
            <a:ext cx="10916689" cy="676028"/>
          </a:xfrm>
        </p:spPr>
        <p:txBody>
          <a:bodyPr>
            <a:normAutofit/>
          </a:bodyPr>
          <a:lstStyle/>
          <a:p>
            <a:r>
              <a:rPr lang="en-US"/>
              <a:t>National Expansion strategy  </a:t>
            </a:r>
          </a:p>
        </p:txBody>
      </p:sp>
      <p:sp>
        <p:nvSpPr>
          <p:cNvPr id="3" name="Content Placeholder 2">
            <a:extLst>
              <a:ext uri="{FF2B5EF4-FFF2-40B4-BE49-F238E27FC236}">
                <a16:creationId xmlns:a16="http://schemas.microsoft.com/office/drawing/2014/main" id="{B9849F43-C9A3-24FB-C811-86D43984BF6D}"/>
              </a:ext>
            </a:extLst>
          </p:cNvPr>
          <p:cNvSpPr>
            <a:spLocks noGrp="1"/>
          </p:cNvSpPr>
          <p:nvPr>
            <p:ph idx="1"/>
          </p:nvPr>
        </p:nvSpPr>
        <p:spPr>
          <a:xfrm>
            <a:off x="424213" y="1187394"/>
            <a:ext cx="11584208" cy="4884222"/>
          </a:xfrm>
        </p:spPr>
        <p:txBody>
          <a:bodyPr vert="horz" lIns="0" tIns="0" rIns="0" bIns="0" rtlCol="0" anchor="t">
            <a:noAutofit/>
          </a:bodyPr>
          <a:lstStyle/>
          <a:p>
            <a:r>
              <a:rPr lang="en-US" sz="2200">
                <a:ea typeface="+mn-lt"/>
                <a:cs typeface="+mn-lt"/>
              </a:rPr>
              <a:t>Expand to other large university campuses across the U.S. </a:t>
            </a:r>
            <a:endParaRPr lang="en-US" sz="2200"/>
          </a:p>
          <a:p>
            <a:r>
              <a:rPr lang="en-US" sz="2200">
                <a:ea typeface="+mn-lt"/>
                <a:cs typeface="+mn-lt"/>
              </a:rPr>
              <a:t>Target schools with high student populations and limited late-night food options </a:t>
            </a:r>
            <a:endParaRPr lang="en-US" sz="2200"/>
          </a:p>
          <a:p>
            <a:r>
              <a:rPr lang="en-US" sz="2200">
                <a:ea typeface="+mn-lt"/>
                <a:cs typeface="+mn-lt"/>
              </a:rPr>
              <a:t>Use a standardized model for easy replication </a:t>
            </a:r>
            <a:endParaRPr lang="en-US" sz="2200"/>
          </a:p>
          <a:p>
            <a:r>
              <a:rPr lang="en-US" sz="2200" b="1">
                <a:ea typeface="+mn-lt"/>
                <a:cs typeface="+mn-lt"/>
              </a:rPr>
              <a:t>Approach:</a:t>
            </a:r>
            <a:endParaRPr lang="en-US" sz="2200"/>
          </a:p>
          <a:p>
            <a:pPr lvl="1">
              <a:buFont typeface="Courier New" panose="020B0604020202020204" pitchFamily="34" charset="0"/>
              <a:buChar char="o"/>
            </a:pPr>
            <a:r>
              <a:rPr lang="en-US" sz="2200">
                <a:ea typeface="+mn-lt"/>
                <a:cs typeface="+mn-lt"/>
              </a:rPr>
              <a:t>Open company-owned locations initially </a:t>
            </a:r>
            <a:endParaRPr lang="en-US" sz="2200"/>
          </a:p>
          <a:p>
            <a:pPr lvl="1">
              <a:buFont typeface="Courier New" panose="020B0604020202020204" pitchFamily="34" charset="0"/>
              <a:buChar char="o"/>
            </a:pPr>
            <a:r>
              <a:rPr lang="en-US" sz="2200">
                <a:ea typeface="+mn-lt"/>
                <a:cs typeface="+mn-lt"/>
              </a:rPr>
              <a:t>Later expand using franchise opportunities </a:t>
            </a:r>
            <a:endParaRPr lang="en-US" sz="2200"/>
          </a:p>
          <a:p>
            <a:r>
              <a:rPr lang="en-US" sz="2200" b="1">
                <a:ea typeface="+mn-lt"/>
                <a:cs typeface="+mn-lt"/>
              </a:rPr>
              <a:t>Rationale:</a:t>
            </a:r>
            <a:endParaRPr lang="en-US" sz="2200"/>
          </a:p>
          <a:p>
            <a:pPr lvl="1">
              <a:buFont typeface="Courier New" panose="020B0604020202020204" pitchFamily="34" charset="0"/>
              <a:buChar char="o"/>
            </a:pPr>
            <a:r>
              <a:rPr lang="en-US" sz="2200">
                <a:ea typeface="+mn-lt"/>
                <a:cs typeface="+mn-lt"/>
              </a:rPr>
              <a:t>High demand for affordable, accessible food </a:t>
            </a:r>
            <a:endParaRPr lang="en-US" sz="2200"/>
          </a:p>
          <a:p>
            <a:pPr lvl="1">
              <a:buFont typeface="Courier New" panose="020B0604020202020204" pitchFamily="34" charset="0"/>
              <a:buChar char="o"/>
            </a:pPr>
            <a:r>
              <a:rPr lang="en-US" sz="2200">
                <a:ea typeface="+mn-lt"/>
                <a:cs typeface="+mn-lt"/>
              </a:rPr>
              <a:t>Scalable business model </a:t>
            </a:r>
            <a:endParaRPr lang="en-US" sz="2200"/>
          </a:p>
          <a:p>
            <a:pPr lvl="1">
              <a:buFont typeface="Courier New" panose="020B0604020202020204" pitchFamily="34" charset="0"/>
              <a:buChar char="o"/>
            </a:pPr>
            <a:r>
              <a:rPr lang="en-US" sz="2200" dirty="0">
                <a:ea typeface="+mn-lt"/>
                <a:cs typeface="+mn-lt"/>
              </a:rPr>
              <a:t>Strong growth potential beyond Rutgers </a:t>
            </a:r>
            <a:endParaRPr lang="en-US" sz="2200"/>
          </a:p>
          <a:p>
            <a:endParaRPr lang="en-US"/>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5A0B0D23-47DD-BCC7-4FD1-68DF13CC2D8F}"/>
              </a:ext>
            </a:extLst>
          </p:cNvPr>
          <p:cNvPicPr>
            <a:picLocks noChangeAspect="1"/>
          </p:cNvPicPr>
          <p:nvPr/>
        </p:nvPicPr>
        <p:blipFill>
          <a:blip r:embed="rId2"/>
          <a:stretch>
            <a:fillRect/>
          </a:stretch>
        </p:blipFill>
        <p:spPr>
          <a:xfrm>
            <a:off x="10874893" y="-180782"/>
            <a:ext cx="1510595" cy="1488402"/>
          </a:xfrm>
          <a:prstGeom prst="rect">
            <a:avLst/>
          </a:prstGeom>
        </p:spPr>
      </p:pic>
      <p:pic>
        <p:nvPicPr>
          <p:cNvPr id="5" name="Picture 4" descr="Discover Rutgers | Rutgers–New Brunswick">
            <a:extLst>
              <a:ext uri="{FF2B5EF4-FFF2-40B4-BE49-F238E27FC236}">
                <a16:creationId xmlns:a16="http://schemas.microsoft.com/office/drawing/2014/main" id="{DDA5A227-8018-C87F-6D15-4E6B04BBBA3C}"/>
              </a:ext>
            </a:extLst>
          </p:cNvPr>
          <p:cNvPicPr>
            <a:picLocks noChangeAspect="1"/>
          </p:cNvPicPr>
          <p:nvPr/>
        </p:nvPicPr>
        <p:blipFill>
          <a:blip r:embed="rId3"/>
          <a:stretch>
            <a:fillRect/>
          </a:stretch>
        </p:blipFill>
        <p:spPr>
          <a:xfrm>
            <a:off x="6629401" y="2700692"/>
            <a:ext cx="4775198" cy="3195538"/>
          </a:xfrm>
          <a:prstGeom prst="rect">
            <a:avLst/>
          </a:prstGeom>
        </p:spPr>
      </p:pic>
    </p:spTree>
    <p:extLst>
      <p:ext uri="{BB962C8B-B14F-4D97-AF65-F5344CB8AC3E}">
        <p14:creationId xmlns:p14="http://schemas.microsoft.com/office/powerpoint/2010/main" val="1255772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72792-F0F9-A2FC-AC1C-76AC158D3CAB}"/>
              </a:ext>
            </a:extLst>
          </p:cNvPr>
          <p:cNvSpPr>
            <a:spLocks noGrp="1"/>
          </p:cNvSpPr>
          <p:nvPr>
            <p:ph type="title"/>
          </p:nvPr>
        </p:nvSpPr>
        <p:spPr>
          <a:xfrm>
            <a:off x="433756" y="116515"/>
            <a:ext cx="10234800" cy="1234440"/>
          </a:xfrm>
        </p:spPr>
        <p:txBody>
          <a:bodyPr/>
          <a:lstStyle/>
          <a:p>
            <a:r>
              <a:rPr lang="en-US"/>
              <a:t>Global Expansion: South Korea</a:t>
            </a:r>
          </a:p>
        </p:txBody>
      </p:sp>
      <p:sp>
        <p:nvSpPr>
          <p:cNvPr id="3" name="Content Placeholder 2">
            <a:extLst>
              <a:ext uri="{FF2B5EF4-FFF2-40B4-BE49-F238E27FC236}">
                <a16:creationId xmlns:a16="http://schemas.microsoft.com/office/drawing/2014/main" id="{93A04056-CC0D-F740-6C57-3C44C3A9E943}"/>
              </a:ext>
            </a:extLst>
          </p:cNvPr>
          <p:cNvSpPr>
            <a:spLocks noGrp="1"/>
          </p:cNvSpPr>
          <p:nvPr>
            <p:ph idx="1"/>
          </p:nvPr>
        </p:nvSpPr>
        <p:spPr>
          <a:xfrm>
            <a:off x="762515" y="1456287"/>
            <a:ext cx="10241280" cy="4692044"/>
          </a:xfrm>
        </p:spPr>
        <p:txBody>
          <a:bodyPr vert="horz" lIns="0" tIns="0" rIns="0" bIns="0" rtlCol="0" anchor="t">
            <a:normAutofit lnSpcReduction="10000"/>
          </a:bodyPr>
          <a:lstStyle/>
          <a:p>
            <a:pPr marL="0" indent="0">
              <a:buNone/>
            </a:pPr>
            <a:r>
              <a:rPr lang="en-US" sz="2200" b="1">
                <a:ea typeface="+mn-lt"/>
                <a:cs typeface="+mn-lt"/>
              </a:rPr>
              <a:t>Why South Korea?</a:t>
            </a:r>
            <a:endParaRPr lang="en-US" sz="2200" b="1"/>
          </a:p>
          <a:p>
            <a:pPr marL="0" indent="0">
              <a:buNone/>
            </a:pPr>
            <a:r>
              <a:rPr lang="en-US" sz="2200">
                <a:ea typeface="+mn-lt"/>
                <a:cs typeface="+mn-lt"/>
              </a:rPr>
              <a:t>South Korea presents a unique synergy with our 24/7 model. A high density of student night-owls and an existing culture of late-night commerce minimize the friction of entry.</a:t>
            </a:r>
            <a:endParaRPr lang="en-US" sz="2200"/>
          </a:p>
          <a:p>
            <a:r>
              <a:rPr lang="en-US" sz="2200">
                <a:ea typeface="+mn-lt"/>
                <a:cs typeface="+mn-lt"/>
              </a:rPr>
              <a:t>Opportunities:</a:t>
            </a:r>
          </a:p>
          <a:p>
            <a:pPr lvl="1">
              <a:buFont typeface="Courier New" panose="020B0604020202020204" pitchFamily="34" charset="0"/>
              <a:buChar char="o"/>
            </a:pPr>
            <a:r>
              <a:rPr lang="en-US" sz="2200">
                <a:ea typeface="+mn-lt"/>
                <a:cs typeface="+mn-lt"/>
              </a:rPr>
              <a:t>Extremely safe urban environments for late-night ops</a:t>
            </a:r>
            <a:endParaRPr lang="en-US" sz="2200"/>
          </a:p>
          <a:p>
            <a:pPr lvl="1">
              <a:buFont typeface="Courier New" panose="020B0604020202020204" pitchFamily="34" charset="0"/>
              <a:buChar char="o"/>
            </a:pPr>
            <a:r>
              <a:rPr lang="en-US" sz="2200">
                <a:ea typeface="+mn-lt"/>
                <a:cs typeface="+mn-lt"/>
              </a:rPr>
              <a:t>High tech-literacy for automated payment systems</a:t>
            </a:r>
            <a:endParaRPr lang="en-US" sz="2200"/>
          </a:p>
          <a:p>
            <a:r>
              <a:rPr lang="en-US" sz="2200">
                <a:ea typeface="+mn-lt"/>
                <a:cs typeface="+mn-lt"/>
              </a:rPr>
              <a:t>Challenges:</a:t>
            </a:r>
            <a:endParaRPr lang="en-US" sz="2200"/>
          </a:p>
          <a:p>
            <a:pPr lvl="1">
              <a:buFont typeface="Courier New" panose="020B0604020202020204" pitchFamily="34" charset="0"/>
              <a:buChar char="o"/>
            </a:pPr>
            <a:r>
              <a:rPr lang="en-US" sz="2200">
                <a:ea typeface="+mn-lt"/>
                <a:cs typeface="+mn-lt"/>
              </a:rPr>
              <a:t>Low individualism requires group-based loyalty tactics</a:t>
            </a:r>
            <a:endParaRPr lang="en-US" sz="2200"/>
          </a:p>
          <a:p>
            <a:pPr lvl="1">
              <a:buFont typeface="Courier New" panose="020B0604020202020204" pitchFamily="34" charset="0"/>
              <a:buChar char="o"/>
            </a:pPr>
            <a:r>
              <a:rPr lang="en-US" sz="2200">
                <a:ea typeface="+mn-lt"/>
                <a:cs typeface="+mn-lt"/>
              </a:rPr>
              <a:t>Deep cultural focus on long-term community presence</a:t>
            </a:r>
            <a:endParaRPr lang="en-US" sz="2200"/>
          </a:p>
          <a:p>
            <a:pPr lvl="1">
              <a:buFont typeface="Courier New" panose="020B0604020202020204" pitchFamily="34" charset="0"/>
              <a:buChar char="o"/>
            </a:pPr>
            <a:r>
              <a:rPr lang="en-US" sz="2200"/>
              <a:t>More competition</a:t>
            </a:r>
          </a:p>
          <a:p>
            <a:pPr lvl="1">
              <a:buFont typeface="Courier New" panose="020B0604020202020204" pitchFamily="34" charset="0"/>
              <a:buChar char="o"/>
            </a:pPr>
            <a:endParaRPr lang="en-US"/>
          </a:p>
        </p:txBody>
      </p:sp>
      <p:pic>
        <p:nvPicPr>
          <p:cNvPr id="4" name="Picture 3" descr="Seoul Night Street University Area">
            <a:extLst>
              <a:ext uri="{FF2B5EF4-FFF2-40B4-BE49-F238E27FC236}">
                <a16:creationId xmlns:a16="http://schemas.microsoft.com/office/drawing/2014/main" id="{76CBF092-8DC7-A4CE-8489-A543D7E87A35}"/>
              </a:ext>
            </a:extLst>
          </p:cNvPr>
          <p:cNvPicPr>
            <a:picLocks noChangeAspect="1"/>
          </p:cNvPicPr>
          <p:nvPr/>
        </p:nvPicPr>
        <p:blipFill>
          <a:blip r:embed="rId2"/>
          <a:stretch>
            <a:fillRect/>
          </a:stretch>
        </p:blipFill>
        <p:spPr>
          <a:xfrm>
            <a:off x="7963788" y="3172032"/>
            <a:ext cx="4050056" cy="2743985"/>
          </a:xfrm>
          <a:prstGeom prst="rect">
            <a:avLst/>
          </a:prstGeom>
        </p:spPr>
      </p:pic>
      <p:pic>
        <p:nvPicPr>
          <p:cNvPr id="7" name="Content Placeholder 3" descr="A red circle with white text and a fork and spoon&#10;&#10;AI-generated content may be incorrect.">
            <a:extLst>
              <a:ext uri="{FF2B5EF4-FFF2-40B4-BE49-F238E27FC236}">
                <a16:creationId xmlns:a16="http://schemas.microsoft.com/office/drawing/2014/main" id="{FCE16E6F-3309-4619-4AFC-275C8BDD6C8D}"/>
              </a:ext>
            </a:extLst>
          </p:cNvPr>
          <p:cNvPicPr>
            <a:picLocks noChangeAspect="1"/>
          </p:cNvPicPr>
          <p:nvPr/>
        </p:nvPicPr>
        <p:blipFill>
          <a:blip r:embed="rId3"/>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1745299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30918-763E-5040-2FB7-DDF8B3C57357}"/>
              </a:ext>
            </a:extLst>
          </p:cNvPr>
          <p:cNvSpPr>
            <a:spLocks noGrp="1"/>
          </p:cNvSpPr>
          <p:nvPr>
            <p:ph type="title"/>
          </p:nvPr>
        </p:nvSpPr>
        <p:spPr/>
        <p:txBody>
          <a:bodyPr/>
          <a:lstStyle/>
          <a:p>
            <a:r>
              <a:rPr lang="en-US"/>
              <a:t>Global Entry &amp; Strategy</a:t>
            </a:r>
          </a:p>
          <a:p>
            <a:endParaRPr lang="en-US"/>
          </a:p>
        </p:txBody>
      </p:sp>
      <p:sp>
        <p:nvSpPr>
          <p:cNvPr id="3" name="Content Placeholder 2">
            <a:extLst>
              <a:ext uri="{FF2B5EF4-FFF2-40B4-BE49-F238E27FC236}">
                <a16:creationId xmlns:a16="http://schemas.microsoft.com/office/drawing/2014/main" id="{F5D802DD-04C3-E0B3-69B2-34162E1163CB}"/>
              </a:ext>
            </a:extLst>
          </p:cNvPr>
          <p:cNvSpPr>
            <a:spLocks noGrp="1"/>
          </p:cNvSpPr>
          <p:nvPr>
            <p:ph sz="half" idx="1"/>
          </p:nvPr>
        </p:nvSpPr>
        <p:spPr/>
        <p:txBody>
          <a:bodyPr vert="horz" lIns="0" tIns="0" rIns="0" bIns="0" rtlCol="0" anchor="t">
            <a:normAutofit/>
          </a:bodyPr>
          <a:lstStyle/>
          <a:p>
            <a:pPr marL="0" indent="0" algn="ctr">
              <a:buNone/>
            </a:pPr>
            <a:endParaRPr lang="en-US" sz="2800" b="1"/>
          </a:p>
          <a:p>
            <a:pPr marL="0" indent="0" algn="ctr">
              <a:buNone/>
            </a:pPr>
            <a:r>
              <a:rPr lang="en-US" sz="2800" b="1"/>
              <a:t>Combo Strategy</a:t>
            </a:r>
            <a:endParaRPr lang="en-US"/>
          </a:p>
          <a:p>
            <a:pPr marL="0" indent="0" algn="ctr">
              <a:buNone/>
            </a:pPr>
            <a:r>
              <a:rPr lang="en-US" b="1">
                <a:ea typeface="+mn-lt"/>
                <a:cs typeface="+mn-lt"/>
              </a:rPr>
              <a:t>Customization Focus:</a:t>
            </a:r>
            <a:r>
              <a:rPr lang="en-US">
                <a:ea typeface="+mn-lt"/>
                <a:cs typeface="+mn-lt"/>
              </a:rPr>
              <a:t> While operational systems are standardized, inventory is 100% customized to local Korean culinary preferences to ensure cultural resonance.</a:t>
            </a:r>
            <a:endParaRPr lang="en-US"/>
          </a:p>
        </p:txBody>
      </p:sp>
      <p:sp>
        <p:nvSpPr>
          <p:cNvPr id="4" name="Content Placeholder 3">
            <a:extLst>
              <a:ext uri="{FF2B5EF4-FFF2-40B4-BE49-F238E27FC236}">
                <a16:creationId xmlns:a16="http://schemas.microsoft.com/office/drawing/2014/main" id="{63D348AC-FED8-3D25-39C5-D72E71EA0F60}"/>
              </a:ext>
            </a:extLst>
          </p:cNvPr>
          <p:cNvSpPr>
            <a:spLocks noGrp="1"/>
          </p:cNvSpPr>
          <p:nvPr>
            <p:ph sz="half" idx="2"/>
          </p:nvPr>
        </p:nvSpPr>
        <p:spPr/>
        <p:txBody>
          <a:bodyPr vert="horz" lIns="0" tIns="0" rIns="0" bIns="0" rtlCol="0" anchor="t">
            <a:normAutofit/>
          </a:bodyPr>
          <a:lstStyle/>
          <a:p>
            <a:pPr marL="0" indent="0" algn="ctr">
              <a:buNone/>
            </a:pPr>
            <a:endParaRPr lang="en-US" sz="2800" b="1"/>
          </a:p>
          <a:p>
            <a:pPr marL="0" indent="0" algn="ctr">
              <a:buNone/>
            </a:pPr>
            <a:r>
              <a:rPr lang="en-US" sz="2800" b="1"/>
              <a:t>Franchise Model</a:t>
            </a:r>
            <a:endParaRPr lang="en-US"/>
          </a:p>
          <a:p>
            <a:pPr marL="0" indent="0" algn="ctr">
              <a:buNone/>
            </a:pPr>
            <a:r>
              <a:rPr lang="en-US">
                <a:ea typeface="+mn-lt"/>
                <a:cs typeface="+mn-lt"/>
              </a:rPr>
              <a:t>Local franchisees will navigate complex municipal regulations and campus specificities better than foreign management, ensuring a steady royalty stream with reduced risk.</a:t>
            </a:r>
            <a:endParaRPr lang="en-US"/>
          </a:p>
        </p:txBody>
      </p:sp>
      <p:sp>
        <p:nvSpPr>
          <p:cNvPr id="7" name="TextBox 6">
            <a:extLst>
              <a:ext uri="{FF2B5EF4-FFF2-40B4-BE49-F238E27FC236}">
                <a16:creationId xmlns:a16="http://schemas.microsoft.com/office/drawing/2014/main" id="{AF258BDC-8F08-F6A2-C019-3869080A82B6}"/>
              </a:ext>
            </a:extLst>
          </p:cNvPr>
          <p:cNvSpPr txBox="1"/>
          <p:nvPr/>
        </p:nvSpPr>
        <p:spPr>
          <a:xfrm>
            <a:off x="1628" y="5747564"/>
            <a:ext cx="121895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Rationale:</a:t>
            </a:r>
            <a:r>
              <a:rPr lang="en-US">
                <a:ea typeface="+mn-lt"/>
                <a:cs typeface="+mn-lt"/>
              </a:rPr>
              <a:t> Food is deeply cultural. A franchise-led customization approach allows for rapid scaling while respecting the nuanced taste profiles and social norms of the Korean student population.</a:t>
            </a:r>
            <a:endParaRPr lang="en-US"/>
          </a:p>
        </p:txBody>
      </p:sp>
      <p:pic>
        <p:nvPicPr>
          <p:cNvPr id="8" name="Picture 7" descr="image.png">
            <a:extLst>
              <a:ext uri="{FF2B5EF4-FFF2-40B4-BE49-F238E27FC236}">
                <a16:creationId xmlns:a16="http://schemas.microsoft.com/office/drawing/2014/main" id="{6B2B9620-1316-DCA7-DC5C-37EBCF50F2BC}"/>
              </a:ext>
            </a:extLst>
          </p:cNvPr>
          <p:cNvPicPr>
            <a:picLocks noChangeAspect="1"/>
          </p:cNvPicPr>
          <p:nvPr/>
        </p:nvPicPr>
        <p:blipFill>
          <a:blip r:embed="rId2"/>
          <a:stretch>
            <a:fillRect/>
          </a:stretch>
        </p:blipFill>
        <p:spPr>
          <a:xfrm>
            <a:off x="3562106" y="2116260"/>
            <a:ext cx="476250" cy="476250"/>
          </a:xfrm>
          <a:prstGeom prst="rect">
            <a:avLst/>
          </a:prstGeom>
        </p:spPr>
      </p:pic>
      <p:pic>
        <p:nvPicPr>
          <p:cNvPr id="9" name="Picture 8" descr="image.png">
            <a:extLst>
              <a:ext uri="{FF2B5EF4-FFF2-40B4-BE49-F238E27FC236}">
                <a16:creationId xmlns:a16="http://schemas.microsoft.com/office/drawing/2014/main" id="{AB4C142A-0933-8A5F-466A-D4428EB613F6}"/>
              </a:ext>
            </a:extLst>
          </p:cNvPr>
          <p:cNvPicPr>
            <a:picLocks noChangeAspect="1"/>
          </p:cNvPicPr>
          <p:nvPr/>
        </p:nvPicPr>
        <p:blipFill>
          <a:blip r:embed="rId3"/>
          <a:stretch>
            <a:fillRect/>
          </a:stretch>
        </p:blipFill>
        <p:spPr>
          <a:xfrm>
            <a:off x="8883040" y="2116260"/>
            <a:ext cx="600075" cy="476250"/>
          </a:xfrm>
          <a:prstGeom prst="rect">
            <a:avLst/>
          </a:prstGeom>
        </p:spPr>
      </p:pic>
      <p:pic>
        <p:nvPicPr>
          <p:cNvPr id="10" name="Content Placeholder 3" descr="A red circle with white text and a fork and spoon&#10;&#10;AI-generated content may be incorrect.">
            <a:extLst>
              <a:ext uri="{FF2B5EF4-FFF2-40B4-BE49-F238E27FC236}">
                <a16:creationId xmlns:a16="http://schemas.microsoft.com/office/drawing/2014/main" id="{CBBE9B12-7E74-B15B-46BE-C73065EB922A}"/>
              </a:ext>
            </a:extLst>
          </p:cNvPr>
          <p:cNvPicPr>
            <a:picLocks noChangeAspect="1"/>
          </p:cNvPicPr>
          <p:nvPr/>
        </p:nvPicPr>
        <p:blipFill>
          <a:blip r:embed="rId4"/>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3773414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0C1A-AC5B-49F8-DC2D-6E8120062946}"/>
              </a:ext>
            </a:extLst>
          </p:cNvPr>
          <p:cNvSpPr>
            <a:spLocks noGrp="1"/>
          </p:cNvSpPr>
          <p:nvPr>
            <p:ph type="title"/>
          </p:nvPr>
        </p:nvSpPr>
        <p:spPr>
          <a:xfrm>
            <a:off x="1273464" y="-48939"/>
            <a:ext cx="10241280" cy="1234440"/>
          </a:xfrm>
        </p:spPr>
        <p:txBody>
          <a:bodyPr>
            <a:normAutofit/>
          </a:bodyPr>
          <a:lstStyle/>
          <a:p>
            <a:r>
              <a:rPr lang="en-US">
                <a:ea typeface="+mj-lt"/>
                <a:cs typeface="+mj-lt"/>
              </a:rPr>
              <a:t>Key Job Role &amp; Hiring Plan</a:t>
            </a:r>
            <a:endParaRPr lang="en-US"/>
          </a:p>
        </p:txBody>
      </p:sp>
      <p:sp>
        <p:nvSpPr>
          <p:cNvPr id="6" name="Content Placeholder 2">
            <a:extLst>
              <a:ext uri="{FF2B5EF4-FFF2-40B4-BE49-F238E27FC236}">
                <a16:creationId xmlns:a16="http://schemas.microsoft.com/office/drawing/2014/main" id="{24ABB607-2503-94AB-8ECF-808C61DF06D8}"/>
              </a:ext>
            </a:extLst>
          </p:cNvPr>
          <p:cNvSpPr>
            <a:spLocks noGrp="1"/>
          </p:cNvSpPr>
          <p:nvPr>
            <p:ph idx="1"/>
          </p:nvPr>
        </p:nvSpPr>
        <p:spPr>
          <a:xfrm>
            <a:off x="173896" y="1889432"/>
            <a:ext cx="4127205" cy="4210326"/>
          </a:xfrm>
        </p:spPr>
        <p:txBody>
          <a:bodyPr vert="horz" lIns="0" tIns="0" rIns="0" bIns="0" rtlCol="0" anchor="t">
            <a:normAutofit/>
          </a:bodyPr>
          <a:lstStyle/>
          <a:p>
            <a:pPr marL="0" indent="0">
              <a:lnSpc>
                <a:spcPct val="100000"/>
              </a:lnSpc>
              <a:spcBef>
                <a:spcPts val="0"/>
              </a:spcBef>
              <a:buNone/>
            </a:pPr>
            <a:r>
              <a:rPr lang="en-US" sz="2100" b="1"/>
              <a:t>Position Description</a:t>
            </a:r>
            <a:endParaRPr lang="en-US" sz="2100" dirty="0"/>
          </a:p>
          <a:p>
            <a:pPr>
              <a:lnSpc>
                <a:spcPct val="100000"/>
              </a:lnSpc>
              <a:spcBef>
                <a:spcPts val="0"/>
              </a:spcBef>
              <a:buFont typeface="Calibri" panose="020B0604020202020204" pitchFamily="34" charset="0"/>
              <a:buChar char="-"/>
            </a:pPr>
            <a:r>
              <a:rPr lang="en-US" sz="2100"/>
              <a:t>Prepare all menu items quickly and consistently</a:t>
            </a:r>
            <a:endParaRPr lang="en-US" sz="2100" dirty="0"/>
          </a:p>
          <a:p>
            <a:pPr marL="0" indent="0">
              <a:lnSpc>
                <a:spcPct val="100000"/>
              </a:lnSpc>
              <a:spcBef>
                <a:spcPts val="0"/>
              </a:spcBef>
              <a:buNone/>
            </a:pPr>
            <a:r>
              <a:rPr lang="en-US" sz="2100"/>
              <a:t>-  Operating cooking stations</a:t>
            </a:r>
            <a:endParaRPr lang="en-US" sz="2100" dirty="0"/>
          </a:p>
          <a:p>
            <a:pPr>
              <a:lnSpc>
                <a:spcPct val="100000"/>
              </a:lnSpc>
              <a:spcBef>
                <a:spcPts val="0"/>
              </a:spcBef>
              <a:buFont typeface="Calibri" panose="020B0604020202020204" pitchFamily="34" charset="0"/>
              <a:buChar char="-"/>
            </a:pPr>
            <a:r>
              <a:rPr lang="en-US" sz="2100" dirty="0"/>
              <a:t>Follow food safety and sanitation </a:t>
            </a:r>
            <a:r>
              <a:rPr lang="en-US" sz="2100"/>
              <a:t>guidelines</a:t>
            </a:r>
            <a:endParaRPr lang="en-US" sz="2100" dirty="0"/>
          </a:p>
          <a:p>
            <a:pPr>
              <a:lnSpc>
                <a:spcPct val="100000"/>
              </a:lnSpc>
              <a:spcBef>
                <a:spcPts val="0"/>
              </a:spcBef>
              <a:buFont typeface="Calibri" panose="020B0604020202020204" pitchFamily="34" charset="0"/>
              <a:buChar char="-"/>
            </a:pPr>
            <a:r>
              <a:rPr lang="en-US" sz="2100"/>
              <a:t>Maintain ingredient levels throughout the shift</a:t>
            </a:r>
            <a:endParaRPr lang="en-US" sz="2100" dirty="0"/>
          </a:p>
          <a:p>
            <a:pPr>
              <a:lnSpc>
                <a:spcPct val="100000"/>
              </a:lnSpc>
              <a:spcBef>
                <a:spcPts val="0"/>
              </a:spcBef>
              <a:buFont typeface="Calibri" panose="020B0604020202020204" pitchFamily="34" charset="0"/>
              <a:buChar char="-"/>
            </a:pPr>
            <a:r>
              <a:rPr lang="en-US" sz="2100" dirty="0"/>
              <a:t>Assist in restocking and prepping for next shift</a:t>
            </a:r>
          </a:p>
          <a:p>
            <a:pPr>
              <a:lnSpc>
                <a:spcPct val="100000"/>
              </a:lnSpc>
              <a:spcBef>
                <a:spcPts val="0"/>
              </a:spcBef>
              <a:buFont typeface="Calibri" panose="020B0604020202020204" pitchFamily="34" charset="0"/>
              <a:buChar char="-"/>
            </a:pPr>
            <a:r>
              <a:rPr lang="en-US" sz="2100"/>
              <a:t>Keep kitchen clean, organized, and running efficiently</a:t>
            </a:r>
            <a:endParaRPr lang="en-US"/>
          </a:p>
          <a:p>
            <a:pPr>
              <a:lnSpc>
                <a:spcPct val="100000"/>
              </a:lnSpc>
              <a:spcBef>
                <a:spcPts val="0"/>
              </a:spcBef>
              <a:buFont typeface="Calibri" panose="020B0604020202020204" pitchFamily="34" charset="0"/>
              <a:buChar char="-"/>
            </a:pPr>
            <a:endParaRPr lang="en-US" sz="2100" dirty="0"/>
          </a:p>
          <a:p>
            <a:pPr>
              <a:lnSpc>
                <a:spcPct val="100000"/>
              </a:lnSpc>
              <a:spcBef>
                <a:spcPts val="0"/>
              </a:spcBef>
              <a:buFont typeface="Calibri" panose="020B0604020202020204" pitchFamily="34" charset="0"/>
              <a:buChar char="-"/>
            </a:pPr>
            <a:endParaRPr lang="en-US" sz="2400" dirty="0"/>
          </a:p>
          <a:p>
            <a:pPr marL="0" indent="0">
              <a:buNone/>
            </a:pPr>
            <a:endParaRPr lang="en-US" dirty="0"/>
          </a:p>
        </p:txBody>
      </p:sp>
      <p:sp>
        <p:nvSpPr>
          <p:cNvPr id="13" name="TextBox 12">
            <a:extLst>
              <a:ext uri="{FF2B5EF4-FFF2-40B4-BE49-F238E27FC236}">
                <a16:creationId xmlns:a16="http://schemas.microsoft.com/office/drawing/2014/main" id="{74524D7D-9927-D802-C8F3-3CA18E7E879F}"/>
              </a:ext>
            </a:extLst>
          </p:cNvPr>
          <p:cNvSpPr txBox="1"/>
          <p:nvPr/>
        </p:nvSpPr>
        <p:spPr>
          <a:xfrm>
            <a:off x="4300133" y="1922423"/>
            <a:ext cx="411457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00" b="1">
                <a:cs typeface="Segoe UI"/>
              </a:rPr>
              <a:t>Qualifications</a:t>
            </a:r>
          </a:p>
          <a:p>
            <a:pPr marL="171450" indent="-171450">
              <a:buFont typeface="Calibri"/>
              <a:buChar char="-"/>
            </a:pPr>
            <a:r>
              <a:rPr lang="en-US" sz="2100">
                <a:cs typeface="Segoe UI"/>
              </a:rPr>
              <a:t>Experience</a:t>
            </a:r>
            <a:r>
              <a:rPr lang="en-US" sz="2100" dirty="0">
                <a:cs typeface="Segoe UI"/>
              </a:rPr>
              <a:t> in food service or kitchen prep  </a:t>
            </a:r>
          </a:p>
          <a:p>
            <a:pPr marL="171450" indent="-171450">
              <a:buFont typeface="Calibri"/>
              <a:buChar char="-"/>
            </a:pPr>
            <a:r>
              <a:rPr lang="en-US" sz="2100">
                <a:cs typeface="Segoe UI"/>
              </a:rPr>
              <a:t>Ability to work in a fast-paced environment  </a:t>
            </a:r>
            <a:endParaRPr lang="en-US" sz="2100" dirty="0">
              <a:cs typeface="Segoe UI"/>
            </a:endParaRPr>
          </a:p>
          <a:p>
            <a:pPr marL="171450" indent="-171450">
              <a:buFont typeface="Calibri"/>
              <a:buChar char="-"/>
            </a:pPr>
            <a:r>
              <a:rPr lang="en-US" sz="2100">
                <a:cs typeface="Segoe UI"/>
              </a:rPr>
              <a:t>Knowledge of basic cooking techniques  </a:t>
            </a:r>
            <a:endParaRPr lang="en-US" sz="2100" dirty="0">
              <a:cs typeface="Segoe UI"/>
            </a:endParaRPr>
          </a:p>
          <a:p>
            <a:pPr marL="171450" indent="-171450">
              <a:buFont typeface="Calibri"/>
              <a:buChar char="-"/>
            </a:pPr>
            <a:r>
              <a:rPr lang="en-US" sz="2100">
                <a:cs typeface="Segoe UI"/>
              </a:rPr>
              <a:t>Strong multitasking and time management skills  </a:t>
            </a:r>
            <a:endParaRPr lang="en-US" sz="2100" dirty="0">
              <a:cs typeface="Segoe UI"/>
            </a:endParaRPr>
          </a:p>
          <a:p>
            <a:pPr marL="171450" indent="-171450">
              <a:buFont typeface="Calibri"/>
              <a:buChar char="-"/>
            </a:pPr>
            <a:r>
              <a:rPr lang="en-US" sz="2100">
                <a:cs typeface="Segoe UI"/>
              </a:rPr>
              <a:t>Must follow safety and cleanliness standards  </a:t>
            </a:r>
            <a:endParaRPr lang="en-US" sz="2100" dirty="0">
              <a:cs typeface="Segoe UI"/>
            </a:endParaRPr>
          </a:p>
          <a:p>
            <a:pPr marL="171450" indent="-171450">
              <a:buFont typeface="Calibri"/>
              <a:buChar char="-"/>
            </a:pPr>
            <a:r>
              <a:rPr lang="en-US" sz="2100">
                <a:cs typeface="Segoe UI"/>
              </a:rPr>
              <a:t>Ability to work late-night shifts </a:t>
            </a:r>
          </a:p>
        </p:txBody>
      </p:sp>
      <p:sp>
        <p:nvSpPr>
          <p:cNvPr id="14" name="TextBox 13">
            <a:extLst>
              <a:ext uri="{FF2B5EF4-FFF2-40B4-BE49-F238E27FC236}">
                <a16:creationId xmlns:a16="http://schemas.microsoft.com/office/drawing/2014/main" id="{04921AFD-8120-3469-FBBC-71322E21B8D6}"/>
              </a:ext>
            </a:extLst>
          </p:cNvPr>
          <p:cNvSpPr txBox="1"/>
          <p:nvPr/>
        </p:nvSpPr>
        <p:spPr>
          <a:xfrm>
            <a:off x="8417886" y="1887787"/>
            <a:ext cx="3751998" cy="45704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00" b="1"/>
              <a:t>Hiring Plan:</a:t>
            </a:r>
          </a:p>
          <a:p>
            <a:r>
              <a:rPr lang="en-US" sz="2100"/>
              <a:t>-Post job on Rutgers Handshake &amp; campus job boards </a:t>
            </a:r>
            <a:endParaRPr lang="en-US" sz="2100" dirty="0"/>
          </a:p>
          <a:p>
            <a:pPr>
              <a:buFont typeface="Calibri"/>
              <a:buChar char="-"/>
            </a:pPr>
            <a:r>
              <a:rPr lang="en-US" sz="2100"/>
              <a:t>Promote through social media (Instagram, TikTok) </a:t>
            </a:r>
            <a:endParaRPr lang="en-US" sz="2100" dirty="0"/>
          </a:p>
          <a:p>
            <a:pPr>
              <a:buFont typeface="Calibri"/>
              <a:buChar char="-"/>
            </a:pPr>
            <a:r>
              <a:rPr lang="en-US" sz="2100"/>
              <a:t>Word-of-mouth + student referrals </a:t>
            </a:r>
            <a:endParaRPr lang="en-US" sz="2100" dirty="0"/>
          </a:p>
          <a:p>
            <a:pPr>
              <a:buFont typeface="Calibri"/>
              <a:buChar char="-"/>
            </a:pPr>
            <a:r>
              <a:rPr lang="en-US" sz="2100"/>
              <a:t>On-campus flyers </a:t>
            </a:r>
            <a:endParaRPr lang="en-US" sz="2100" dirty="0"/>
          </a:p>
          <a:p>
            <a:pPr>
              <a:buFont typeface="Calibri"/>
              <a:buChar char="-"/>
            </a:pPr>
            <a:endParaRPr lang="en-US" sz="2100" dirty="0"/>
          </a:p>
          <a:p>
            <a:r>
              <a:rPr lang="en-US" sz="2100" b="1"/>
              <a:t>Compensation:</a:t>
            </a:r>
          </a:p>
          <a:p>
            <a:r>
              <a:rPr lang="en-US" sz="2100"/>
              <a:t>-$21/hour salary</a:t>
            </a:r>
            <a:endParaRPr lang="en-US" sz="2100" dirty="0"/>
          </a:p>
          <a:p>
            <a:r>
              <a:rPr lang="en-US" sz="2100"/>
              <a:t>- Performance-based bonuses </a:t>
            </a:r>
            <a:endParaRPr lang="en-US" sz="2100" dirty="0"/>
          </a:p>
          <a:p>
            <a:r>
              <a:rPr lang="en-US" sz="2100"/>
              <a:t>-Free meals </a:t>
            </a:r>
            <a:endParaRPr lang="en-US" sz="2100" dirty="0"/>
          </a:p>
          <a:p>
            <a:pPr algn="ctr"/>
            <a:endParaRPr lang="en-US"/>
          </a:p>
        </p:txBody>
      </p:sp>
      <p:sp>
        <p:nvSpPr>
          <p:cNvPr id="16" name="TextBox 15">
            <a:extLst>
              <a:ext uri="{FF2B5EF4-FFF2-40B4-BE49-F238E27FC236}">
                <a16:creationId xmlns:a16="http://schemas.microsoft.com/office/drawing/2014/main" id="{B3DABD37-0749-8CAD-3BB5-3176B82FAF46}"/>
              </a:ext>
            </a:extLst>
          </p:cNvPr>
          <p:cNvSpPr txBox="1"/>
          <p:nvPr/>
        </p:nvSpPr>
        <p:spPr>
          <a:xfrm>
            <a:off x="3046964" y="1218637"/>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t>Line Cook / Prep Cook </a:t>
            </a:r>
            <a:endParaRPr lang="en-US" sz="3600"/>
          </a:p>
          <a:p>
            <a:pPr algn="ctr"/>
            <a:endParaRPr lang="en-US"/>
          </a:p>
        </p:txBody>
      </p:sp>
      <p:pic>
        <p:nvPicPr>
          <p:cNvPr id="18" name="Content Placeholder 3" descr="A red circle with white text and a fork and spoon&#10;&#10;AI-generated content may be incorrect.">
            <a:extLst>
              <a:ext uri="{FF2B5EF4-FFF2-40B4-BE49-F238E27FC236}">
                <a16:creationId xmlns:a16="http://schemas.microsoft.com/office/drawing/2014/main" id="{0515E751-9FE6-9110-D382-77CA503A5AC2}"/>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4011841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FA714-9C02-852C-CF6F-F0812FCCDDCB}"/>
              </a:ext>
            </a:extLst>
          </p:cNvPr>
          <p:cNvSpPr>
            <a:spLocks noGrp="1"/>
          </p:cNvSpPr>
          <p:nvPr>
            <p:ph type="title"/>
          </p:nvPr>
        </p:nvSpPr>
        <p:spPr>
          <a:xfrm>
            <a:off x="231074" y="156954"/>
            <a:ext cx="10456795" cy="808907"/>
          </a:xfrm>
        </p:spPr>
        <p:txBody>
          <a:bodyPr>
            <a:normAutofit fontScale="90000"/>
          </a:bodyPr>
          <a:lstStyle/>
          <a:p>
            <a:r>
              <a:rPr lang="en-US">
                <a:ea typeface="+mj-lt"/>
                <a:cs typeface="+mj-lt"/>
              </a:rPr>
              <a:t>Employee Motivation Initiatives</a:t>
            </a:r>
            <a:endParaRPr lang="en-US"/>
          </a:p>
        </p:txBody>
      </p:sp>
      <p:sp>
        <p:nvSpPr>
          <p:cNvPr id="3" name="Content Placeholder 2">
            <a:extLst>
              <a:ext uri="{FF2B5EF4-FFF2-40B4-BE49-F238E27FC236}">
                <a16:creationId xmlns:a16="http://schemas.microsoft.com/office/drawing/2014/main" id="{79BFC38D-F289-7F66-F525-44E1F4244377}"/>
              </a:ext>
            </a:extLst>
          </p:cNvPr>
          <p:cNvSpPr>
            <a:spLocks noGrp="1"/>
          </p:cNvSpPr>
          <p:nvPr>
            <p:ph idx="1"/>
          </p:nvPr>
        </p:nvSpPr>
        <p:spPr>
          <a:xfrm>
            <a:off x="236172" y="1167250"/>
            <a:ext cx="9073236" cy="5252442"/>
          </a:xfrm>
        </p:spPr>
        <p:txBody>
          <a:bodyPr vert="horz" lIns="0" tIns="0" rIns="0" bIns="0" rtlCol="0" anchor="t">
            <a:noAutofit/>
          </a:bodyPr>
          <a:lstStyle/>
          <a:p>
            <a:pPr marL="0" indent="0">
              <a:buNone/>
            </a:pPr>
            <a:r>
              <a:rPr lang="en-US" sz="1900">
                <a:ea typeface="+mn-lt"/>
                <a:cs typeface="+mn-lt"/>
              </a:rPr>
              <a:t>1. </a:t>
            </a:r>
            <a:r>
              <a:rPr lang="en-US" sz="1900" b="1">
                <a:ea typeface="+mn-lt"/>
                <a:cs typeface="+mn-lt"/>
              </a:rPr>
              <a:t>Implement a Shift-Based Bonus System </a:t>
            </a:r>
            <a:r>
              <a:rPr lang="en-US" sz="1900">
                <a:ea typeface="+mn-lt"/>
                <a:cs typeface="+mn-lt"/>
              </a:rPr>
              <a:t>- Employees receive small bonuses for perfect attendance, </a:t>
            </a:r>
            <a:r>
              <a:rPr lang="en-US" sz="1900" dirty="0">
                <a:ea typeface="+mn-lt"/>
                <a:cs typeface="+mn-lt"/>
              </a:rPr>
              <a:t>high customer reviews, or picking up extra shifts. This rewards reliability and shows appreciation for the people keeping the kitchen running.</a:t>
            </a:r>
            <a:endParaRPr lang="en-US" sz="1900" dirty="0"/>
          </a:p>
          <a:p>
            <a:pPr marL="0" indent="0">
              <a:buNone/>
            </a:pPr>
            <a:r>
              <a:rPr lang="en-US" sz="1900" dirty="0">
                <a:ea typeface="+mn-lt"/>
                <a:cs typeface="+mn-lt"/>
              </a:rPr>
              <a:t>2. </a:t>
            </a:r>
            <a:r>
              <a:rPr lang="en-US" sz="1900" b="1" dirty="0">
                <a:ea typeface="+mn-lt"/>
                <a:cs typeface="+mn-lt"/>
              </a:rPr>
              <a:t>Offer Free Meals and Shift Perks</a:t>
            </a:r>
            <a:r>
              <a:rPr lang="en-US" sz="1900" dirty="0">
                <a:ea typeface="+mn-lt"/>
                <a:cs typeface="+mn-lt"/>
              </a:rPr>
              <a:t> - Every employee gets a free meal during their shift and discounted </a:t>
            </a:r>
            <a:r>
              <a:rPr lang="en-US" sz="1900">
                <a:ea typeface="+mn-lt"/>
                <a:cs typeface="+mn-lt"/>
              </a:rPr>
              <a:t>food</a:t>
            </a:r>
            <a:r>
              <a:rPr lang="en-US" sz="1900" dirty="0">
                <a:ea typeface="+mn-lt"/>
                <a:cs typeface="+mn-lt"/>
              </a:rPr>
              <a:t> when off the clock. This is especially motivating for students working long late-night shifts.</a:t>
            </a:r>
            <a:endParaRPr lang="en-US" sz="1900" dirty="0"/>
          </a:p>
          <a:p>
            <a:pPr marL="0" indent="0">
              <a:buNone/>
            </a:pPr>
            <a:r>
              <a:rPr lang="en-US" sz="1900" dirty="0"/>
              <a:t>3.</a:t>
            </a:r>
            <a:r>
              <a:rPr lang="en-US" sz="1900" dirty="0">
                <a:ea typeface="+mn-lt"/>
                <a:cs typeface="+mn-lt"/>
              </a:rPr>
              <a:t> </a:t>
            </a:r>
            <a:r>
              <a:rPr lang="en-US" sz="1900" b="1" dirty="0">
                <a:ea typeface="+mn-lt"/>
                <a:cs typeface="+mn-lt"/>
              </a:rPr>
              <a:t>Create a Clear Promotion Path </a:t>
            </a:r>
            <a:r>
              <a:rPr lang="en-US" sz="1900" dirty="0">
                <a:ea typeface="+mn-lt"/>
                <a:cs typeface="+mn-lt"/>
              </a:rPr>
              <a:t>- Line cooks and cashiers can work up to “Shift Lead” positions </a:t>
            </a:r>
            <a:r>
              <a:rPr lang="en-US" sz="1900">
                <a:ea typeface="+mn-lt"/>
                <a:cs typeface="+mn-lt"/>
              </a:rPr>
              <a:t>based on performance. Having a growth path gives employees a reason to stay.</a:t>
            </a:r>
            <a:endParaRPr lang="en-US" sz="1900" dirty="0"/>
          </a:p>
          <a:p>
            <a:pPr marL="0" indent="0">
              <a:buNone/>
            </a:pPr>
            <a:r>
              <a:rPr lang="en-US" sz="1900"/>
              <a:t>4.</a:t>
            </a:r>
            <a:r>
              <a:rPr lang="en-US" sz="1900">
                <a:ea typeface="+mn-lt"/>
                <a:cs typeface="+mn-lt"/>
              </a:rPr>
              <a:t> </a:t>
            </a:r>
            <a:r>
              <a:rPr lang="en-US" sz="1900" b="1">
                <a:ea typeface="+mn-lt"/>
                <a:cs typeface="+mn-lt"/>
              </a:rPr>
              <a:t>Add More Schedule Flexibility</a:t>
            </a:r>
            <a:r>
              <a:rPr lang="en-US" sz="1900">
                <a:ea typeface="+mn-lt"/>
                <a:cs typeface="+mn-lt"/>
              </a:rPr>
              <a:t> - Use</a:t>
            </a:r>
            <a:r>
              <a:rPr lang="en-US" sz="1900" dirty="0">
                <a:ea typeface="+mn-lt"/>
                <a:cs typeface="+mn-lt"/>
              </a:rPr>
              <a:t> an easy online scheduling system and let workers swap shifts. This reduces stress, especially for college students balancing classes.</a:t>
            </a:r>
            <a:endParaRPr lang="en-US" sz="1900" dirty="0"/>
          </a:p>
          <a:p>
            <a:pPr marL="0" indent="0">
              <a:buNone/>
            </a:pPr>
            <a:r>
              <a:rPr lang="en-US" sz="1900"/>
              <a:t>5. </a:t>
            </a:r>
            <a:r>
              <a:rPr lang="en-US" sz="1900" b="1"/>
              <a:t>Monthly</a:t>
            </a:r>
            <a:r>
              <a:rPr lang="en-US" sz="1900" b="1" dirty="0">
                <a:ea typeface="+mn-lt"/>
                <a:cs typeface="+mn-lt"/>
              </a:rPr>
              <a:t> Recognition Program</a:t>
            </a:r>
            <a:r>
              <a:rPr lang="en-US" sz="1900" dirty="0">
                <a:ea typeface="+mn-lt"/>
                <a:cs typeface="+mn-lt"/>
              </a:rPr>
              <a:t> - “Employee of the Month” wall + $50 gift card. Recognition boosts morale and motivates others to step up</a:t>
            </a:r>
            <a:endParaRPr lang="en-US" sz="1900" dirty="0"/>
          </a:p>
          <a:p>
            <a:pPr marL="0" indent="0">
              <a:buNone/>
            </a:pPr>
            <a:endParaRPr lang="en-US" dirty="0"/>
          </a:p>
          <a:p>
            <a:pPr marL="0" indent="0">
              <a:buNone/>
            </a:pPr>
            <a:endParaRPr lang="en-US" dirty="0"/>
          </a:p>
          <a:p>
            <a:pPr marL="0" indent="0">
              <a:buNone/>
            </a:pPr>
            <a:endParaRPr lang="en-US" dirty="0"/>
          </a:p>
          <a:p>
            <a:pPr>
              <a:buAutoNum type="arabicPeriod"/>
            </a:pPr>
            <a:endParaRPr lang="en-US" dirty="0"/>
          </a:p>
        </p:txBody>
      </p:sp>
      <p:pic>
        <p:nvPicPr>
          <p:cNvPr id="4" name="Picture 3" descr="Understanding Intrinsic and Extrinsic Employee Motivation">
            <a:extLst>
              <a:ext uri="{FF2B5EF4-FFF2-40B4-BE49-F238E27FC236}">
                <a16:creationId xmlns:a16="http://schemas.microsoft.com/office/drawing/2014/main" id="{D08CF4A9-434A-1992-1457-C755A4E888EB}"/>
              </a:ext>
            </a:extLst>
          </p:cNvPr>
          <p:cNvPicPr>
            <a:picLocks noChangeAspect="1"/>
          </p:cNvPicPr>
          <p:nvPr/>
        </p:nvPicPr>
        <p:blipFill>
          <a:blip r:embed="rId2"/>
          <a:stretch>
            <a:fillRect/>
          </a:stretch>
        </p:blipFill>
        <p:spPr>
          <a:xfrm>
            <a:off x="9129665" y="4397427"/>
            <a:ext cx="3061316" cy="1993082"/>
          </a:xfrm>
          <a:prstGeom prst="rect">
            <a:avLst/>
          </a:prstGeom>
        </p:spPr>
      </p:pic>
      <p:pic>
        <p:nvPicPr>
          <p:cNvPr id="7" name="Content Placeholder 3" descr="A red circle with white text and a fork and spoon&#10;&#10;AI-generated content may be incorrect.">
            <a:extLst>
              <a:ext uri="{FF2B5EF4-FFF2-40B4-BE49-F238E27FC236}">
                <a16:creationId xmlns:a16="http://schemas.microsoft.com/office/drawing/2014/main" id="{4B51ECA3-67CF-33E8-A107-8E1ADD5E8732}"/>
              </a:ext>
            </a:extLst>
          </p:cNvPr>
          <p:cNvPicPr>
            <a:picLocks noChangeAspect="1"/>
          </p:cNvPicPr>
          <p:nvPr/>
        </p:nvPicPr>
        <p:blipFill>
          <a:blip r:embed="rId3"/>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73658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59377-9912-FAB5-F6A6-45450C5A55AE}"/>
              </a:ext>
            </a:extLst>
          </p:cNvPr>
          <p:cNvSpPr>
            <a:spLocks noGrp="1"/>
          </p:cNvSpPr>
          <p:nvPr>
            <p:ph type="title"/>
          </p:nvPr>
        </p:nvSpPr>
        <p:spPr>
          <a:xfrm>
            <a:off x="477927" y="195987"/>
            <a:ext cx="10377625" cy="1213000"/>
          </a:xfrm>
        </p:spPr>
        <p:txBody>
          <a:bodyPr>
            <a:normAutofit/>
          </a:bodyPr>
          <a:lstStyle/>
          <a:p>
            <a:r>
              <a:rPr lang="en-US">
                <a:ea typeface="+mj-lt"/>
                <a:cs typeface="+mj-lt"/>
              </a:rPr>
              <a:t>Employee Departure Announcement</a:t>
            </a:r>
            <a:endParaRPr lang="en-US"/>
          </a:p>
        </p:txBody>
      </p:sp>
      <p:sp>
        <p:nvSpPr>
          <p:cNvPr id="3" name="Content Placeholder 2">
            <a:extLst>
              <a:ext uri="{FF2B5EF4-FFF2-40B4-BE49-F238E27FC236}">
                <a16:creationId xmlns:a16="http://schemas.microsoft.com/office/drawing/2014/main" id="{DCB63680-BBBD-FC35-92B6-ED7FF2F8983F}"/>
              </a:ext>
            </a:extLst>
          </p:cNvPr>
          <p:cNvSpPr>
            <a:spLocks noGrp="1"/>
          </p:cNvSpPr>
          <p:nvPr>
            <p:ph idx="1"/>
          </p:nvPr>
        </p:nvSpPr>
        <p:spPr>
          <a:xfrm>
            <a:off x="332510" y="1599591"/>
            <a:ext cx="11834551" cy="4755987"/>
          </a:xfrm>
        </p:spPr>
        <p:txBody>
          <a:bodyPr vert="horz" lIns="0" tIns="0" rIns="0" bIns="0" rtlCol="0" anchor="t">
            <a:noAutofit/>
          </a:bodyPr>
          <a:lstStyle/>
          <a:p>
            <a:pPr marL="0" indent="0">
              <a:buNone/>
            </a:pPr>
            <a:r>
              <a:rPr lang="en-US" sz="1900">
                <a:latin typeface="Gill Sans Nova"/>
                <a:ea typeface="+mn-lt"/>
                <a:cs typeface="+mn-lt"/>
              </a:rPr>
              <a:t>Dear RU 24/7 Food Hub Team,</a:t>
            </a:r>
          </a:p>
          <a:p>
            <a:pPr marL="0" indent="0">
              <a:buNone/>
            </a:pPr>
            <a:r>
              <a:rPr lang="en-US" sz="1900">
                <a:latin typeface="Gill Sans Nova"/>
                <a:cs typeface="Times New Roman"/>
              </a:rPr>
              <a:t>I wanted to let you know that two of our team members have decided to leave their positions effective immediately. While we’re disappointed to see them go, we respect their decisions and wish them all the best.</a:t>
            </a:r>
            <a:endParaRPr lang="en-US" sz="1900">
              <a:latin typeface="Gill Sans Nova"/>
            </a:endParaRPr>
          </a:p>
          <a:p>
            <a:pPr marL="0" indent="0">
              <a:buNone/>
            </a:pPr>
            <a:r>
              <a:rPr lang="en-US" sz="1900">
                <a:latin typeface="Gill Sans Nova"/>
                <a:cs typeface="Times New Roman"/>
              </a:rPr>
              <a:t>Their departures also made it clear that we need to do more to support and motivate everyone on our team. Over the next few weeks, we will be rolling out several new programs, including shift-based bonuses, free employee meals, clearer promotion opportunities, more flexible scheduling, and a monthly recognition program. Our goal is to make sure you feel valued, supported, and heard.</a:t>
            </a:r>
            <a:endParaRPr lang="en-US" sz="1900">
              <a:latin typeface="Gill Sans Nova"/>
            </a:endParaRPr>
          </a:p>
          <a:p>
            <a:pPr marL="0" indent="0">
              <a:buNone/>
            </a:pPr>
            <a:r>
              <a:rPr lang="en-US" sz="1900">
                <a:latin typeface="Gill Sans Nova"/>
                <a:cs typeface="Times New Roman"/>
              </a:rPr>
              <a:t>We appreciate all the hard work you put in every day, and we’re committed to making this a place where you enjoy working. If you have questions, ideas, or feedback, my door is always open.</a:t>
            </a:r>
            <a:endParaRPr lang="en-US" sz="1900">
              <a:latin typeface="Gill Sans Nova"/>
            </a:endParaRPr>
          </a:p>
          <a:p>
            <a:pPr marL="0" indent="0">
              <a:buNone/>
            </a:pPr>
            <a:r>
              <a:rPr lang="en-US" sz="1900">
                <a:latin typeface="Gill Sans Nova"/>
                <a:cs typeface="Times New Roman"/>
              </a:rPr>
              <a:t>Thank you for everything you do.</a:t>
            </a:r>
            <a:endParaRPr lang="en-US" sz="1900">
              <a:latin typeface="Gill Sans Nova"/>
            </a:endParaRPr>
          </a:p>
          <a:p>
            <a:pPr marL="0" indent="0">
              <a:buNone/>
            </a:pPr>
            <a:r>
              <a:rPr lang="en-US" sz="1900">
                <a:latin typeface="Gill Sans Nova"/>
                <a:cs typeface="Times New Roman"/>
              </a:rPr>
              <a:t>The Management Team</a:t>
            </a:r>
            <a:endParaRPr lang="en-US" sz="1900">
              <a:latin typeface="Gill Sans Nova"/>
            </a:endParaRPr>
          </a:p>
          <a:p>
            <a:pPr marL="0" indent="0">
              <a:buNone/>
            </a:pPr>
            <a:br>
              <a:rPr lang="en-US" sz="1500" dirty="0">
                <a:latin typeface="Gill Sans Nova"/>
              </a:rPr>
            </a:br>
            <a:endParaRPr lang="en-US" sz="1500" dirty="0">
              <a:latin typeface="Gill Sans Nova"/>
            </a:endParaRPr>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B287C8CA-A11F-DEA1-5CA9-C4C343843EFD}"/>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264338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D11F1-F7EB-7EFB-ADAD-A8A2388BBF4B}"/>
              </a:ext>
            </a:extLst>
          </p:cNvPr>
          <p:cNvSpPr>
            <a:spLocks noGrp="1"/>
          </p:cNvSpPr>
          <p:nvPr>
            <p:ph type="title"/>
          </p:nvPr>
        </p:nvSpPr>
        <p:spPr>
          <a:xfrm>
            <a:off x="216779" y="247394"/>
            <a:ext cx="10979638" cy="1305361"/>
          </a:xfrm>
        </p:spPr>
        <p:txBody>
          <a:bodyPr/>
          <a:lstStyle/>
          <a:p>
            <a:r>
              <a:rPr lang="en-US">
                <a:ea typeface="+mj-lt"/>
                <a:cs typeface="+mj-lt"/>
              </a:rPr>
              <a:t>Employee Engagement Strategies</a:t>
            </a:r>
            <a:endParaRPr lang="en-US"/>
          </a:p>
        </p:txBody>
      </p:sp>
      <p:sp>
        <p:nvSpPr>
          <p:cNvPr id="7" name="Content Placeholder 6">
            <a:extLst>
              <a:ext uri="{FF2B5EF4-FFF2-40B4-BE49-F238E27FC236}">
                <a16:creationId xmlns:a16="http://schemas.microsoft.com/office/drawing/2014/main" id="{B6C82463-E3C2-95BF-9EF8-4B0F25EA5802}"/>
              </a:ext>
            </a:extLst>
          </p:cNvPr>
          <p:cNvSpPr>
            <a:spLocks noGrp="1"/>
          </p:cNvSpPr>
          <p:nvPr>
            <p:ph idx="1"/>
          </p:nvPr>
        </p:nvSpPr>
        <p:spPr>
          <a:xfrm>
            <a:off x="328474" y="1860730"/>
            <a:ext cx="11592098" cy="3959352"/>
          </a:xfrm>
        </p:spPr>
        <p:txBody>
          <a:bodyPr vert="horz" lIns="0" tIns="0" rIns="0" bIns="0" rtlCol="0" anchor="t">
            <a:normAutofit/>
          </a:bodyPr>
          <a:lstStyle/>
          <a:p>
            <a:pPr marL="0" indent="0">
              <a:buNone/>
            </a:pPr>
            <a:r>
              <a:rPr lang="en-US" sz="2200"/>
              <a:t>- Foster a supportive and inclusive workplace culture </a:t>
            </a:r>
            <a:endParaRPr lang="en-US" sz="2200" dirty="0"/>
          </a:p>
          <a:p>
            <a:pPr marL="0" indent="0">
              <a:buNone/>
            </a:pPr>
            <a:r>
              <a:rPr lang="en-US" sz="2200" dirty="0"/>
              <a:t>- Maintain open communication channels between employees and management </a:t>
            </a:r>
          </a:p>
          <a:p>
            <a:pPr marL="0" indent="0">
              <a:buNone/>
            </a:pPr>
            <a:r>
              <a:rPr lang="en-US" sz="2200"/>
              <a:t>- </a:t>
            </a:r>
            <a:r>
              <a:rPr lang="en-US" sz="2200">
                <a:ea typeface="+mn-lt"/>
                <a:cs typeface="+mn-lt"/>
              </a:rPr>
              <a:t>Conduct employee surveys and feedback sessions to understand employee concerns and improve workplace conditions.</a:t>
            </a:r>
          </a:p>
          <a:p>
            <a:pPr marL="0" indent="0">
              <a:buNone/>
            </a:pPr>
            <a:r>
              <a:rPr lang="en-US" sz="2200"/>
              <a:t>- Provide flexible scheduling to accommodate academic responsibilities </a:t>
            </a:r>
            <a:endParaRPr lang="en-US" sz="2200" dirty="0"/>
          </a:p>
          <a:p>
            <a:pPr marL="0" indent="0">
              <a:buNone/>
            </a:pPr>
            <a:r>
              <a:rPr lang="en-US" sz="2200"/>
              <a:t>- Implement team-building activities to strengthen collaboration </a:t>
            </a:r>
            <a:endParaRPr lang="en-US" sz="2200" dirty="0"/>
          </a:p>
          <a:p>
            <a:pPr marL="0" indent="0">
              <a:buNone/>
            </a:pPr>
            <a:r>
              <a:rPr lang="en-US" sz="2200"/>
              <a:t>- Recognize employee contributions to boost morale and retention</a:t>
            </a:r>
            <a:endParaRPr lang="en-US" sz="2200" dirty="0"/>
          </a:p>
          <a:p>
            <a:pPr marL="0" indent="0">
              <a:buNone/>
            </a:pPr>
            <a:r>
              <a:rPr lang="en-US" sz="2200"/>
              <a:t>-</a:t>
            </a:r>
            <a:r>
              <a:rPr lang="en-US" sz="2200">
                <a:ea typeface="+mn-lt"/>
                <a:cs typeface="+mn-lt"/>
              </a:rPr>
              <a:t> Give employees more autonomy and involvement in decision-making related to their work</a:t>
            </a:r>
            <a:endParaRPr lang="en-US" sz="2200" dirty="0">
              <a:ea typeface="+mn-lt"/>
              <a:cs typeface="+mn-lt"/>
            </a:endParaRPr>
          </a:p>
        </p:txBody>
      </p:sp>
      <p:pic>
        <p:nvPicPr>
          <p:cNvPr id="9" name="Content Placeholder 3" descr="A red circle with white text and a fork and spoon&#10;&#10;AI-generated content may be incorrect.">
            <a:extLst>
              <a:ext uri="{FF2B5EF4-FFF2-40B4-BE49-F238E27FC236}">
                <a16:creationId xmlns:a16="http://schemas.microsoft.com/office/drawing/2014/main" id="{EE693381-1AB6-764A-4833-F030B99B55E1}"/>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3596991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8B8B9-4C08-7FD6-1E0B-F0E108A02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3609F-CFC8-F8E4-203D-1B4759A25D02}"/>
              </a:ext>
            </a:extLst>
          </p:cNvPr>
          <p:cNvSpPr>
            <a:spLocks noGrp="1"/>
          </p:cNvSpPr>
          <p:nvPr>
            <p:ph type="title"/>
          </p:nvPr>
        </p:nvSpPr>
        <p:spPr>
          <a:xfrm>
            <a:off x="151598" y="335693"/>
            <a:ext cx="11363474" cy="676028"/>
          </a:xfrm>
        </p:spPr>
        <p:txBody>
          <a:bodyPr>
            <a:normAutofit fontScale="90000"/>
          </a:bodyPr>
          <a:lstStyle/>
          <a:p>
            <a:r>
              <a:rPr lang="en-US"/>
              <a:t>  </a:t>
            </a:r>
            <a:r>
              <a:rPr lang="en-US">
                <a:ea typeface="+mj-lt"/>
                <a:cs typeface="+mj-lt"/>
              </a:rPr>
              <a:t>SIPOC: Student Meal Fulfillment</a:t>
            </a:r>
            <a:endParaRPr lang="en-US"/>
          </a:p>
        </p:txBody>
      </p:sp>
      <p:sp>
        <p:nvSpPr>
          <p:cNvPr id="3" name="Content Placeholder 2">
            <a:extLst>
              <a:ext uri="{FF2B5EF4-FFF2-40B4-BE49-F238E27FC236}">
                <a16:creationId xmlns:a16="http://schemas.microsoft.com/office/drawing/2014/main" id="{4419CD17-E272-F9A4-26DB-E0B2BC936024}"/>
              </a:ext>
            </a:extLst>
          </p:cNvPr>
          <p:cNvSpPr>
            <a:spLocks noGrp="1"/>
          </p:cNvSpPr>
          <p:nvPr>
            <p:ph idx="1"/>
          </p:nvPr>
        </p:nvSpPr>
        <p:spPr>
          <a:xfrm>
            <a:off x="181759" y="823713"/>
            <a:ext cx="11826662" cy="5247903"/>
          </a:xfrm>
        </p:spPr>
        <p:txBody>
          <a:bodyPr vert="horz" lIns="0" tIns="0" rIns="0" bIns="0" rtlCol="0" anchor="t">
            <a:noAutofit/>
          </a:bodyPr>
          <a:lstStyle/>
          <a:p>
            <a:pPr marL="0" indent="0">
              <a:buNone/>
            </a:pPr>
            <a:endParaRPr lang="en-US" sz="2200"/>
          </a:p>
          <a:p>
            <a:r>
              <a:rPr lang="en-US" sz="2200" b="1">
                <a:ea typeface="+mn-lt"/>
                <a:cs typeface="+mn-lt"/>
              </a:rPr>
              <a:t>Suppliers: </a:t>
            </a:r>
            <a:r>
              <a:rPr lang="en-US" sz="2200">
                <a:ea typeface="+mn-lt"/>
                <a:cs typeface="+mn-lt"/>
              </a:rPr>
              <a:t>National food wholesalers (Sysco), local organic farms, commercial kitchen equipment vendors, and university facility management.</a:t>
            </a:r>
            <a:endParaRPr lang="en-US" sz="2200"/>
          </a:p>
          <a:p>
            <a:r>
              <a:rPr lang="en-US" sz="2200" b="1"/>
              <a:t>Inputs: </a:t>
            </a:r>
            <a:r>
              <a:rPr lang="en-US" sz="2200">
                <a:ea typeface="+mn-lt"/>
                <a:cs typeface="+mn-lt"/>
              </a:rPr>
              <a:t>High-quality ingredients, 24/7 kitchen and service staff, secure point-of-sale (POS) systems, and campus utility infrastructure.</a:t>
            </a:r>
          </a:p>
          <a:p>
            <a:r>
              <a:rPr lang="en-US" sz="2200" b="1"/>
              <a:t>Process : </a:t>
            </a:r>
            <a:r>
              <a:rPr lang="en-US" sz="2200">
                <a:ea typeface="+mn-lt"/>
                <a:cs typeface="+mn-lt"/>
              </a:rPr>
              <a:t>Menu design &gt; Strategic ingredient sourcing &gt; Kitchen preparation &gt; Order placement  &gt; Meal production &gt; Quality check &gt; Final delivery.</a:t>
            </a:r>
            <a:endParaRPr lang="en-US" sz="2200"/>
          </a:p>
          <a:p>
            <a:r>
              <a:rPr lang="en-US" sz="2200" b="1">
                <a:ea typeface="+mn-lt"/>
                <a:cs typeface="+mn-lt"/>
              </a:rPr>
              <a:t>Outputs: </a:t>
            </a:r>
            <a:r>
              <a:rPr lang="en-US" sz="2200">
                <a:ea typeface="+mn-lt"/>
                <a:cs typeface="+mn-lt"/>
              </a:rPr>
              <a:t>Nutritious 24-hour hot meals, accurate order fulfillment, and a safe, reliable late-night campus dining environment.</a:t>
            </a:r>
            <a:endParaRPr lang="en-US" sz="2200" b="1">
              <a:ea typeface="+mn-lt"/>
              <a:cs typeface="+mn-lt"/>
            </a:endParaRPr>
          </a:p>
          <a:p>
            <a:r>
              <a:rPr lang="en-US" sz="2200" b="1">
                <a:ea typeface="+mn-lt"/>
                <a:cs typeface="+mn-lt"/>
              </a:rPr>
              <a:t>Customers: </a:t>
            </a:r>
            <a:r>
              <a:rPr lang="en-US" sz="2200">
                <a:ea typeface="+mn-lt"/>
                <a:cs typeface="+mn-lt"/>
              </a:rPr>
              <a:t>On-campus students, faculty working late hours, and university security personnel seeking convenience and quality.</a:t>
            </a:r>
            <a:endParaRPr lang="en-US" sz="2200" b="1">
              <a:ea typeface="+mn-lt"/>
              <a:cs typeface="+mn-lt"/>
            </a:endParaRPr>
          </a:p>
          <a:p>
            <a:pPr marL="0" indent="0">
              <a:buNone/>
            </a:pPr>
            <a:endParaRPr lang="en-US" b="1">
              <a:ea typeface="+mn-lt"/>
              <a:cs typeface="+mn-lt"/>
            </a:endParaRPr>
          </a:p>
          <a:p>
            <a:endParaRPr lang="en-US"/>
          </a:p>
        </p:txBody>
      </p:sp>
      <p:pic>
        <p:nvPicPr>
          <p:cNvPr id="10" name="Content Placeholder 3" descr="A red circle with white text and a fork and spoon&#10;&#10;AI-generated content may be incorrect.">
            <a:extLst>
              <a:ext uri="{FF2B5EF4-FFF2-40B4-BE49-F238E27FC236}">
                <a16:creationId xmlns:a16="http://schemas.microsoft.com/office/drawing/2014/main" id="{5095CEF9-F5B3-B11F-F9AB-62FF01A029B2}"/>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3951022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EDDDE-CC60-BA3A-1D2B-A35B16E7B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25790-9F29-A3D9-800D-9E4E9E057481}"/>
              </a:ext>
            </a:extLst>
          </p:cNvPr>
          <p:cNvSpPr>
            <a:spLocks noGrp="1"/>
          </p:cNvSpPr>
          <p:nvPr>
            <p:ph type="title"/>
          </p:nvPr>
        </p:nvSpPr>
        <p:spPr>
          <a:xfrm>
            <a:off x="152083" y="196844"/>
            <a:ext cx="11209617" cy="676028"/>
          </a:xfrm>
        </p:spPr>
        <p:txBody>
          <a:bodyPr>
            <a:normAutofit/>
          </a:bodyPr>
          <a:lstStyle/>
          <a:p>
            <a:r>
              <a:rPr lang="en-US" sz="3100">
                <a:ea typeface="+mj-lt"/>
                <a:cs typeface="+mj-lt"/>
              </a:rPr>
              <a:t>Performance Measurement Charts</a:t>
            </a:r>
            <a:endParaRPr lang="en-US" sz="3100"/>
          </a:p>
        </p:txBody>
      </p:sp>
      <p:sp>
        <p:nvSpPr>
          <p:cNvPr id="3" name="Content Placeholder 2">
            <a:extLst>
              <a:ext uri="{FF2B5EF4-FFF2-40B4-BE49-F238E27FC236}">
                <a16:creationId xmlns:a16="http://schemas.microsoft.com/office/drawing/2014/main" id="{66F13265-5F97-7FB7-08D3-27213D1E1EE6}"/>
              </a:ext>
            </a:extLst>
          </p:cNvPr>
          <p:cNvSpPr>
            <a:spLocks noGrp="1"/>
          </p:cNvSpPr>
          <p:nvPr>
            <p:ph idx="1"/>
          </p:nvPr>
        </p:nvSpPr>
        <p:spPr>
          <a:xfrm>
            <a:off x="522349" y="1187394"/>
            <a:ext cx="11486072" cy="4884222"/>
          </a:xfrm>
        </p:spPr>
        <p:txBody>
          <a:bodyPr vert="horz" lIns="0" tIns="0" rIns="0" bIns="0" rtlCol="0" anchor="t">
            <a:noAutofit/>
          </a:bodyPr>
          <a:lstStyle/>
          <a:p>
            <a:pPr marL="0" indent="0">
              <a:buNone/>
            </a:pPr>
            <a:endParaRPr lang="en-US"/>
          </a:p>
          <a:p>
            <a:pPr marL="0" indent="0">
              <a:buNone/>
            </a:pPr>
            <a:endParaRPr lang="en-US" b="1"/>
          </a:p>
          <a:p>
            <a:pPr marL="0" indent="0">
              <a:buNone/>
            </a:pPr>
            <a:r>
              <a:rPr lang="en-US"/>
              <a:t> </a:t>
            </a:r>
          </a:p>
          <a:p>
            <a:endParaRPr lang="en-US" b="1">
              <a:ea typeface="+mn-lt"/>
              <a:cs typeface="+mn-lt"/>
            </a:endParaRPr>
          </a:p>
          <a:p>
            <a:pPr marL="0" indent="0">
              <a:buNone/>
            </a:pPr>
            <a:endParaRPr lang="en-US" b="1">
              <a:ea typeface="+mn-lt"/>
              <a:cs typeface="+mn-lt"/>
            </a:endParaRPr>
          </a:p>
          <a:p>
            <a:endParaRPr lang="en-US">
              <a:ea typeface="+mn-lt"/>
              <a:cs typeface="+mn-lt"/>
            </a:endParaRPr>
          </a:p>
        </p:txBody>
      </p:sp>
      <p:pic>
        <p:nvPicPr>
          <p:cNvPr id="4" name="Picture 3" descr="A graph of different colored bars&#10;&#10;AI-generated content may be incorrect.">
            <a:extLst>
              <a:ext uri="{FF2B5EF4-FFF2-40B4-BE49-F238E27FC236}">
                <a16:creationId xmlns:a16="http://schemas.microsoft.com/office/drawing/2014/main" id="{20AD8B37-7BC8-AD12-0667-9710745422F0}"/>
              </a:ext>
            </a:extLst>
          </p:cNvPr>
          <p:cNvPicPr>
            <a:picLocks noChangeAspect="1"/>
          </p:cNvPicPr>
          <p:nvPr/>
        </p:nvPicPr>
        <p:blipFill>
          <a:blip r:embed="rId2"/>
          <a:srcRect l="1899" t="5409" r="2116" b="3188"/>
          <a:stretch>
            <a:fillRect/>
          </a:stretch>
        </p:blipFill>
        <p:spPr>
          <a:xfrm>
            <a:off x="152083" y="1100803"/>
            <a:ext cx="6729740" cy="3117908"/>
          </a:xfrm>
          <a:prstGeom prst="rect">
            <a:avLst/>
          </a:prstGeom>
        </p:spPr>
      </p:pic>
      <p:pic>
        <p:nvPicPr>
          <p:cNvPr id="6" name="Picture 5" descr="A graph of different colored bars&#10;&#10;AI-generated content may be incorrect.">
            <a:extLst>
              <a:ext uri="{FF2B5EF4-FFF2-40B4-BE49-F238E27FC236}">
                <a16:creationId xmlns:a16="http://schemas.microsoft.com/office/drawing/2014/main" id="{DD0443F2-541B-C779-9F63-DBD5D06C5A2F}"/>
              </a:ext>
            </a:extLst>
          </p:cNvPr>
          <p:cNvPicPr>
            <a:picLocks noChangeAspect="1"/>
          </p:cNvPicPr>
          <p:nvPr/>
        </p:nvPicPr>
        <p:blipFill>
          <a:blip r:embed="rId3"/>
          <a:srcRect l="987" t="11513" r="1882" b="2961"/>
          <a:stretch>
            <a:fillRect/>
          </a:stretch>
        </p:blipFill>
        <p:spPr>
          <a:xfrm>
            <a:off x="5229369" y="3819525"/>
            <a:ext cx="6964158" cy="2595422"/>
          </a:xfrm>
          <a:prstGeom prst="rect">
            <a:avLst/>
          </a:prstGeom>
        </p:spPr>
      </p:pic>
      <p:pic>
        <p:nvPicPr>
          <p:cNvPr id="8" name="Content Placeholder 3" descr="A red circle with white text and a fork and spoon&#10;&#10;AI-generated content may be incorrect.">
            <a:extLst>
              <a:ext uri="{FF2B5EF4-FFF2-40B4-BE49-F238E27FC236}">
                <a16:creationId xmlns:a16="http://schemas.microsoft.com/office/drawing/2014/main" id="{E68A35CE-EA8A-2B94-4B64-A211C4FB9C4B}"/>
              </a:ext>
            </a:extLst>
          </p:cNvPr>
          <p:cNvPicPr>
            <a:picLocks noChangeAspect="1"/>
          </p:cNvPicPr>
          <p:nvPr/>
        </p:nvPicPr>
        <p:blipFill>
          <a:blip r:embed="rId4"/>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2264400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0DAEE-F00B-42B2-BA1C-5987F1E2D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4B8AA-D469-8FDC-7C74-7C207D228D34}"/>
              </a:ext>
            </a:extLst>
          </p:cNvPr>
          <p:cNvSpPr>
            <a:spLocks noGrp="1"/>
          </p:cNvSpPr>
          <p:nvPr>
            <p:ph type="title"/>
          </p:nvPr>
        </p:nvSpPr>
        <p:spPr>
          <a:xfrm>
            <a:off x="264377" y="198684"/>
            <a:ext cx="11221102" cy="1305247"/>
          </a:xfrm>
        </p:spPr>
        <p:txBody>
          <a:bodyPr>
            <a:normAutofit fontScale="90000"/>
          </a:bodyPr>
          <a:lstStyle/>
          <a:p>
            <a:r>
              <a:rPr lang="en-US">
                <a:ea typeface="+mj-lt"/>
                <a:cs typeface="+mj-lt"/>
              </a:rPr>
              <a:t>Key Process Improvement Initiative</a:t>
            </a:r>
            <a:r>
              <a:rPr lang="en-US" sz="1800">
                <a:ea typeface="+mj-lt"/>
                <a:cs typeface="+mj-lt"/>
              </a:rPr>
              <a:t> </a:t>
            </a:r>
            <a:br>
              <a:rPr lang="en-US" sz="1800">
                <a:ea typeface="+mj-lt"/>
                <a:cs typeface="+mj-lt"/>
              </a:rPr>
            </a:br>
            <a:r>
              <a:rPr lang="en-US" sz="1800">
                <a:ea typeface="+mj-lt"/>
                <a:cs typeface="+mj-lt"/>
              </a:rPr>
              <a:t>(Digitalization of the Kitchen Fulfillment Process)</a:t>
            </a:r>
            <a:endParaRPr lang="en-US" sz="1800"/>
          </a:p>
        </p:txBody>
      </p:sp>
      <p:sp>
        <p:nvSpPr>
          <p:cNvPr id="3" name="Content Placeholder 2">
            <a:extLst>
              <a:ext uri="{FF2B5EF4-FFF2-40B4-BE49-F238E27FC236}">
                <a16:creationId xmlns:a16="http://schemas.microsoft.com/office/drawing/2014/main" id="{26A9EDFD-5002-95B5-EB5E-979F09223B41}"/>
              </a:ext>
            </a:extLst>
          </p:cNvPr>
          <p:cNvSpPr>
            <a:spLocks noGrp="1"/>
          </p:cNvSpPr>
          <p:nvPr>
            <p:ph idx="1"/>
          </p:nvPr>
        </p:nvSpPr>
        <p:spPr>
          <a:xfrm>
            <a:off x="407227" y="1516439"/>
            <a:ext cx="11601194" cy="4555177"/>
          </a:xfrm>
        </p:spPr>
        <p:txBody>
          <a:bodyPr vert="horz" lIns="0" tIns="0" rIns="0" bIns="0" rtlCol="0" anchor="t">
            <a:noAutofit/>
          </a:bodyPr>
          <a:lstStyle/>
          <a:p>
            <a:endParaRPr lang="en-US" sz="2300">
              <a:ea typeface="+mn-lt"/>
              <a:cs typeface="+mn-lt"/>
            </a:endParaRPr>
          </a:p>
          <a:p>
            <a:r>
              <a:rPr lang="en-US" sz="2300" b="1">
                <a:ea typeface="+mn-lt"/>
                <a:cs typeface="+mn-lt"/>
              </a:rPr>
              <a:t>Initiative</a:t>
            </a:r>
            <a:r>
              <a:rPr lang="en-US" sz="2300">
                <a:ea typeface="+mn-lt"/>
                <a:cs typeface="+mn-lt"/>
              </a:rPr>
              <a:t>: Kitchen Operations Digitalization (KOD).</a:t>
            </a:r>
            <a:endParaRPr lang="en-US" sz="2300"/>
          </a:p>
          <a:p>
            <a:r>
              <a:rPr lang="en-US" sz="2300" b="1">
                <a:ea typeface="+mn-lt"/>
                <a:cs typeface="+mn-lt"/>
              </a:rPr>
              <a:t>Change Strategy</a:t>
            </a:r>
            <a:r>
              <a:rPr lang="en-US" sz="2300">
                <a:ea typeface="+mn-lt"/>
                <a:cs typeface="+mn-lt"/>
              </a:rPr>
              <a:t>: Eliminating manual paper tickets in favor of a synchronized Kitchen Display System (KDS) and automated inventory tracking.</a:t>
            </a:r>
            <a:endParaRPr lang="en-US" sz="2300"/>
          </a:p>
          <a:p>
            <a:r>
              <a:rPr lang="en-US" sz="2300" b="1">
                <a:ea typeface="+mn-lt"/>
                <a:cs typeface="+mn-lt"/>
              </a:rPr>
              <a:t>Performance Goal</a:t>
            </a:r>
            <a:r>
              <a:rPr lang="en-US" sz="2300">
                <a:ea typeface="+mn-lt"/>
                <a:cs typeface="+mn-lt"/>
              </a:rPr>
              <a:t>: Achieve a 98% order accuracy rate and reduce peak-hour wait times by 15%.</a:t>
            </a:r>
            <a:endParaRPr lang="en-US" sz="2300"/>
          </a:p>
          <a:p>
            <a:r>
              <a:rPr lang="en-US" sz="2300" b="1">
                <a:ea typeface="+mn-lt"/>
                <a:cs typeface="+mn-lt"/>
              </a:rPr>
              <a:t>Completion Target</a:t>
            </a:r>
            <a:r>
              <a:rPr lang="en-US" sz="2300">
                <a:ea typeface="+mn-lt"/>
                <a:cs typeface="+mn-lt"/>
              </a:rPr>
              <a:t>: Fully implemented and optimized by December 31, 2026</a:t>
            </a:r>
            <a:endParaRPr lang="en-US" sz="2300"/>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7C187E7F-FFA3-0848-6DCF-A14869F52A8F}"/>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2266105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6122B-DCE2-BC7F-3C92-95258A901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714EC-5BA8-CCD0-289D-A7E941A50155}"/>
              </a:ext>
            </a:extLst>
          </p:cNvPr>
          <p:cNvSpPr>
            <a:spLocks noGrp="1"/>
          </p:cNvSpPr>
          <p:nvPr>
            <p:ph type="title"/>
          </p:nvPr>
        </p:nvSpPr>
        <p:spPr>
          <a:xfrm>
            <a:off x="521051" y="22221"/>
            <a:ext cx="9974680" cy="1329310"/>
          </a:xfrm>
        </p:spPr>
        <p:txBody>
          <a:bodyPr>
            <a:normAutofit/>
          </a:bodyPr>
          <a:lstStyle/>
          <a:p>
            <a:r>
              <a:rPr lang="en-US" sz="3200">
                <a:ea typeface="+mj-lt"/>
                <a:cs typeface="+mj-lt"/>
              </a:rPr>
              <a:t>Strategic Decision: Retain and Expand</a:t>
            </a:r>
            <a:endParaRPr lang="en-US" sz="3200"/>
          </a:p>
        </p:txBody>
      </p:sp>
      <p:sp>
        <p:nvSpPr>
          <p:cNvPr id="3" name="Content Placeholder 2">
            <a:extLst>
              <a:ext uri="{FF2B5EF4-FFF2-40B4-BE49-F238E27FC236}">
                <a16:creationId xmlns:a16="http://schemas.microsoft.com/office/drawing/2014/main" id="{065F87A4-86B7-B983-749F-80A286307A07}"/>
              </a:ext>
            </a:extLst>
          </p:cNvPr>
          <p:cNvSpPr>
            <a:spLocks noGrp="1"/>
          </p:cNvSpPr>
          <p:nvPr>
            <p:ph idx="1"/>
          </p:nvPr>
        </p:nvSpPr>
        <p:spPr>
          <a:xfrm>
            <a:off x="407227" y="1187394"/>
            <a:ext cx="11601194" cy="4884222"/>
          </a:xfrm>
        </p:spPr>
        <p:txBody>
          <a:bodyPr vert="horz" lIns="0" tIns="0" rIns="0" bIns="0" rtlCol="0" anchor="t">
            <a:noAutofit/>
          </a:bodyPr>
          <a:lstStyle/>
          <a:p>
            <a:endParaRPr lang="en-US" sz="2400">
              <a:ea typeface="+mn-lt"/>
              <a:cs typeface="+mn-lt"/>
            </a:endParaRPr>
          </a:p>
          <a:p>
            <a:r>
              <a:rPr lang="en-US" sz="2400" b="1">
                <a:ea typeface="+mn-lt"/>
                <a:cs typeface="+mn-lt"/>
              </a:rPr>
              <a:t>Decision</a:t>
            </a:r>
            <a:r>
              <a:rPr lang="en-US" sz="2400">
                <a:ea typeface="+mn-lt"/>
                <a:cs typeface="+mn-lt"/>
              </a:rPr>
              <a:t>: Do Not Sell; pursue International Franchising.</a:t>
            </a:r>
          </a:p>
          <a:p>
            <a:r>
              <a:rPr lang="en-US" sz="2400" b="1">
                <a:ea typeface="+mn-lt"/>
                <a:cs typeface="+mn-lt"/>
              </a:rPr>
              <a:t>Rationale</a:t>
            </a:r>
            <a:r>
              <a:rPr lang="en-US" sz="2400">
                <a:ea typeface="+mn-lt"/>
                <a:cs typeface="+mn-lt"/>
              </a:rPr>
              <a:t>: The "Night Owl" model is highly scalable. Franchising allows us to expand into high-potential markets like the UK and Canada using local expertise to manage regional legal and cultural risks while we retain brand equity and royalty streams.</a:t>
            </a:r>
          </a:p>
          <a:p>
            <a:r>
              <a:rPr lang="en-US" sz="2400" b="1">
                <a:ea typeface="+mn-lt"/>
                <a:cs typeface="+mn-lt"/>
              </a:rPr>
              <a:t>Operational Efficiency</a:t>
            </a:r>
            <a:r>
              <a:rPr lang="en-US" sz="2400">
                <a:ea typeface="+mn-lt"/>
                <a:cs typeface="+mn-lt"/>
              </a:rPr>
              <a:t>: By utilizing a franchise entry strategy, we transfer the responsibility for day-to-day management, local labor hiring, and securing regional government licenses to the franchisee. This allow us to scale the "Night Owl" brand across multiple global campuses with significantly lower capital investment and operational overhead than a direct ownership model would require.</a:t>
            </a:r>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EDCF1BB5-7B4F-17CB-54A7-33F52E4F41EF}"/>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243568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A4CB0-AB7E-5573-DC84-66262178C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0BBD5A-DCF4-7C89-2C1E-39831BDE10C7}"/>
              </a:ext>
            </a:extLst>
          </p:cNvPr>
          <p:cNvSpPr>
            <a:spLocks noGrp="1"/>
          </p:cNvSpPr>
          <p:nvPr>
            <p:ph type="title"/>
          </p:nvPr>
        </p:nvSpPr>
        <p:spPr>
          <a:xfrm>
            <a:off x="521051" y="-154242"/>
            <a:ext cx="11578890" cy="1257121"/>
          </a:xfrm>
        </p:spPr>
        <p:txBody>
          <a:bodyPr>
            <a:normAutofit/>
          </a:bodyPr>
          <a:lstStyle/>
          <a:p>
            <a:r>
              <a:rPr lang="en-US" sz="2800">
                <a:ea typeface="+mj-lt"/>
                <a:cs typeface="+mj-lt"/>
              </a:rPr>
              <a:t>Summary of Business Success</a:t>
            </a:r>
            <a:endParaRPr lang="en-US"/>
          </a:p>
        </p:txBody>
      </p:sp>
      <p:sp>
        <p:nvSpPr>
          <p:cNvPr id="3" name="Content Placeholder 2">
            <a:extLst>
              <a:ext uri="{FF2B5EF4-FFF2-40B4-BE49-F238E27FC236}">
                <a16:creationId xmlns:a16="http://schemas.microsoft.com/office/drawing/2014/main" id="{6309DBD2-2B6B-F089-4075-4892B220BEDA}"/>
              </a:ext>
            </a:extLst>
          </p:cNvPr>
          <p:cNvSpPr>
            <a:spLocks noGrp="1"/>
          </p:cNvSpPr>
          <p:nvPr>
            <p:ph idx="1"/>
          </p:nvPr>
        </p:nvSpPr>
        <p:spPr>
          <a:xfrm>
            <a:off x="407227" y="1187394"/>
            <a:ext cx="11601194" cy="4884222"/>
          </a:xfrm>
        </p:spPr>
        <p:txBody>
          <a:bodyPr vert="horz" lIns="0" tIns="0" rIns="0" bIns="0" rtlCol="0" anchor="t">
            <a:noAutofit/>
          </a:bodyPr>
          <a:lstStyle/>
          <a:p>
            <a:endParaRPr lang="en-US" sz="2400" b="1">
              <a:ea typeface="+mn-lt"/>
              <a:cs typeface="+mn-lt"/>
            </a:endParaRPr>
          </a:p>
          <a:p>
            <a:r>
              <a:rPr lang="en-US" sz="2400" b="1">
                <a:ea typeface="+mn-lt"/>
                <a:cs typeface="+mn-lt"/>
              </a:rPr>
              <a:t>Identified Market Gap: </a:t>
            </a:r>
            <a:r>
              <a:rPr lang="en-US" sz="2400">
                <a:ea typeface="+mn-lt"/>
                <a:cs typeface="+mn-lt"/>
              </a:rPr>
              <a:t>Successfully capitalized on the unmet demand for safe, healthy, 24-hour campus dining.</a:t>
            </a:r>
          </a:p>
          <a:p>
            <a:endParaRPr lang="en-US" sz="2400"/>
          </a:p>
          <a:p>
            <a:r>
              <a:rPr lang="en-US" sz="2400" b="1">
                <a:ea typeface="+mn-lt"/>
                <a:cs typeface="+mn-lt"/>
              </a:rPr>
              <a:t>Operational Control: </a:t>
            </a:r>
            <a:r>
              <a:rPr lang="en-US" sz="2400">
                <a:ea typeface="+mn-lt"/>
                <a:cs typeface="+mn-lt"/>
              </a:rPr>
              <a:t>Implemented rigorous Performance Management (SIPOC and WDM) to ensure both high customer satisfaction and lean operations.</a:t>
            </a:r>
            <a:endParaRPr lang="en-US" sz="2400"/>
          </a:p>
          <a:p>
            <a:endParaRPr lang="en-US" sz="2400" b="1"/>
          </a:p>
          <a:p>
            <a:r>
              <a:rPr lang="en-US" sz="2400" b="1">
                <a:ea typeface="+mn-lt"/>
                <a:cs typeface="+mn-lt"/>
              </a:rPr>
              <a:t>Strategic Flexibility: </a:t>
            </a:r>
            <a:r>
              <a:rPr lang="en-US" sz="2400">
                <a:ea typeface="+mn-lt"/>
                <a:cs typeface="+mn-lt"/>
              </a:rPr>
              <a:t>Utilized cultural research to adapt menus and operations to specific international student needs, ensuring long-term global viability.</a:t>
            </a:r>
            <a:endParaRPr lang="en-US" sz="2400"/>
          </a:p>
          <a:p>
            <a:endParaRPr lang="en-US">
              <a:ea typeface="+mn-lt"/>
              <a:cs typeface="+mn-lt"/>
            </a:endParaRPr>
          </a:p>
        </p:txBody>
      </p:sp>
      <p:pic>
        <p:nvPicPr>
          <p:cNvPr id="6" name="Content Placeholder 3" descr="A red circle with white text and a fork and spoon&#10;&#10;AI-generated content may be incorrect.">
            <a:extLst>
              <a:ext uri="{FF2B5EF4-FFF2-40B4-BE49-F238E27FC236}">
                <a16:creationId xmlns:a16="http://schemas.microsoft.com/office/drawing/2014/main" id="{7909B79D-06E0-9CD6-D648-54339EE549DE}"/>
              </a:ext>
            </a:extLst>
          </p:cNvPr>
          <p:cNvPicPr>
            <a:picLocks noChangeAspect="1"/>
          </p:cNvPicPr>
          <p:nvPr/>
        </p:nvPicPr>
        <p:blipFill>
          <a:blip r:embed="rId2"/>
          <a:stretch>
            <a:fillRect/>
          </a:stretch>
        </p:blipFill>
        <p:spPr>
          <a:xfrm>
            <a:off x="10874893" y="-180782"/>
            <a:ext cx="1510595" cy="1488402"/>
          </a:xfrm>
          <a:prstGeom prst="rect">
            <a:avLst/>
          </a:prstGeom>
        </p:spPr>
      </p:pic>
    </p:spTree>
    <p:extLst>
      <p:ext uri="{BB962C8B-B14F-4D97-AF65-F5344CB8AC3E}">
        <p14:creationId xmlns:p14="http://schemas.microsoft.com/office/powerpoint/2010/main" val="1847127609"/>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GradientRiseVTI</vt:lpstr>
      <vt:lpstr>RU 24/7 Food Hub: A Student-Centered Business Solution </vt:lpstr>
      <vt:lpstr>Business Concept</vt:lpstr>
      <vt:lpstr>Customer Value Proposition</vt:lpstr>
      <vt:lpstr> Vision, Mission, Core values</vt:lpstr>
      <vt:lpstr>Financial &amp; Strategic Objectives</vt:lpstr>
      <vt:lpstr>Corporate Social Responsibility</vt:lpstr>
      <vt:lpstr>New product/service</vt:lpstr>
      <vt:lpstr>National Expansion strategy  </vt:lpstr>
      <vt:lpstr>Global Expansion: South Korea</vt:lpstr>
      <vt:lpstr>Global Entry &amp; Strategy </vt:lpstr>
      <vt:lpstr>Key Job Role &amp; Hiring Plan</vt:lpstr>
      <vt:lpstr>Employee Motivation Initiatives</vt:lpstr>
      <vt:lpstr>Employee Departure Announcement</vt:lpstr>
      <vt:lpstr>Employee Engagement Strategies</vt:lpstr>
      <vt:lpstr>  SIPOC: Student Meal Fulfillment</vt:lpstr>
      <vt:lpstr>Performance Measurement Charts</vt:lpstr>
      <vt:lpstr>Key Process Improvement Initiative  (Digitalization of the Kitchen Fulfillment Process)</vt:lpstr>
      <vt:lpstr>Strategic Decision: Retain and Expand</vt:lpstr>
      <vt:lpstr>Summary of Business Success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351</cp:revision>
  <dcterms:created xsi:type="dcterms:W3CDTF">2026-04-08T00:08:44Z</dcterms:created>
  <dcterms:modified xsi:type="dcterms:W3CDTF">2026-10-04T18:29:26Z</dcterms:modified>
</cp:coreProperties>
</file>